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D4AA"/>
          </a:solidFill>
          <a:ln/>
        </p:spPr>
      </p:sp>
      <p:sp>
        <p:nvSpPr>
          <p:cNvPr id="3" name="Shape 1"/>
          <p:cNvSpPr/>
          <p:nvPr/>
        </p:nvSpPr>
        <p:spPr>
          <a:xfrm>
            <a:off x="0" y="0"/>
            <a:ext cx="9144000" cy="73152"/>
          </a:xfrm>
          <a:prstGeom prst="rect">
            <a:avLst/>
          </a:prstGeom>
          <a:solidFill>
            <a:srgbClr val="00D4AA"/>
          </a:solidFill>
          <a:ln/>
        </p:spPr>
      </p:sp>
      <p:sp>
        <p:nvSpPr>
          <p:cNvPr id="4" name="Shape 2"/>
          <p:cNvSpPr/>
          <p:nvPr/>
        </p:nvSpPr>
        <p:spPr>
          <a:xfrm>
            <a:off x="274320" y="1005840"/>
            <a:ext cx="8595360" cy="0"/>
          </a:xfrm>
          <a:prstGeom prst="line">
            <a:avLst/>
          </a:prstGeom>
          <a:noFill/>
          <a:ln w="6350">
            <a:solidFill>
              <a:srgbClr val="1E2833"/>
            </a:solidFill>
            <a:prstDash val="solid"/>
          </a:ln>
        </p:spPr>
      </p:sp>
      <p:sp>
        <p:nvSpPr>
          <p:cNvPr id="5" name="Shape 3"/>
          <p:cNvSpPr/>
          <p:nvPr/>
        </p:nvSpPr>
        <p:spPr>
          <a:xfrm>
            <a:off x="274320" y="2011680"/>
            <a:ext cx="8595360" cy="0"/>
          </a:xfrm>
          <a:prstGeom prst="line">
            <a:avLst/>
          </a:prstGeom>
          <a:noFill/>
          <a:ln w="6350">
            <a:solidFill>
              <a:srgbClr val="1E2833"/>
            </a:solidFill>
            <a:prstDash val="solid"/>
          </a:ln>
        </p:spPr>
      </p:sp>
      <p:sp>
        <p:nvSpPr>
          <p:cNvPr id="6" name="Shape 4"/>
          <p:cNvSpPr/>
          <p:nvPr/>
        </p:nvSpPr>
        <p:spPr>
          <a:xfrm>
            <a:off x="274320" y="3017520"/>
            <a:ext cx="8595360" cy="0"/>
          </a:xfrm>
          <a:prstGeom prst="line">
            <a:avLst/>
          </a:prstGeom>
          <a:noFill/>
          <a:ln w="6350">
            <a:solidFill>
              <a:srgbClr val="1E2833"/>
            </a:solidFill>
            <a:prstDash val="solid"/>
          </a:ln>
        </p:spPr>
      </p:sp>
      <p:sp>
        <p:nvSpPr>
          <p:cNvPr id="7" name="Shape 5"/>
          <p:cNvSpPr/>
          <p:nvPr/>
        </p:nvSpPr>
        <p:spPr>
          <a:xfrm>
            <a:off x="274320" y="4023360"/>
            <a:ext cx="8595360" cy="0"/>
          </a:xfrm>
          <a:prstGeom prst="line">
            <a:avLst/>
          </a:prstGeom>
          <a:noFill/>
          <a:ln w="6350">
            <a:solidFill>
              <a:srgbClr val="1E2833"/>
            </a:solidFill>
            <a:prstDash val="solid"/>
          </a:ln>
        </p:spPr>
      </p:sp>
      <p:sp>
        <p:nvSpPr>
          <p:cNvPr id="8" name="Text 6"/>
          <p:cNvSpPr/>
          <p:nvPr/>
        </p:nvSpPr>
        <p:spPr>
          <a:xfrm>
            <a:off x="365760" y="640080"/>
            <a:ext cx="8412480" cy="502920"/>
          </a:xfrm>
          <a:prstGeom prst="rect">
            <a:avLst/>
          </a:prstGeom>
          <a:noFill/>
          <a:ln/>
        </p:spPr>
        <p:txBody>
          <a:bodyPr wrap="square" lIns="0" tIns="0" rIns="0" bIns="0" rtlCol="0" anchor="ctr"/>
          <a:lstStyle/>
          <a:p>
            <a:pPr indent="0" marL="0">
              <a:buNone/>
            </a:pPr>
            <a:r>
              <a:rPr lang="en-US" sz="1300" b="1" spc="400" kern="0" dirty="0">
                <a:solidFill>
                  <a:srgbClr val="00D4AA"/>
                </a:solidFill>
                <a:latin typeface="Consolas" pitchFamily="34" charset="0"/>
                <a:ea typeface="Consolas" pitchFamily="34" charset="-122"/>
                <a:cs typeface="Consolas" pitchFamily="34" charset="-120"/>
              </a:rPr>
              <a:t>SECURITY ASSESSMENT REPORT</a:t>
            </a:r>
            <a:endParaRPr lang="en-US" sz="1300" dirty="0"/>
          </a:p>
        </p:txBody>
      </p:sp>
      <p:sp>
        <p:nvSpPr>
          <p:cNvPr id="9" name="Text 7"/>
          <p:cNvSpPr/>
          <p:nvPr/>
        </p:nvSpPr>
        <p:spPr>
          <a:xfrm>
            <a:off x="365760" y="1188720"/>
            <a:ext cx="841248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Bookify Hotel</a:t>
            </a:r>
            <a:endParaRPr lang="en-US" sz="5200" dirty="0"/>
          </a:p>
        </p:txBody>
      </p:sp>
      <p:sp>
        <p:nvSpPr>
          <p:cNvPr id="10" name="Text 8"/>
          <p:cNvSpPr/>
          <p:nvPr/>
        </p:nvSpPr>
        <p:spPr>
          <a:xfrm>
            <a:off x="365760" y="2103120"/>
            <a:ext cx="6400800" cy="411480"/>
          </a:xfrm>
          <a:prstGeom prst="rect">
            <a:avLst/>
          </a:prstGeom>
          <a:noFill/>
          <a:ln/>
        </p:spPr>
        <p:txBody>
          <a:bodyPr wrap="square" lIns="0" tIns="0" rIns="0" bIns="0" rtlCol="0" anchor="ctr"/>
          <a:lstStyle/>
          <a:p>
            <a:pPr indent="0" marL="0">
              <a:buNone/>
            </a:pPr>
            <a:r>
              <a:rPr lang="en-US" sz="2000" dirty="0">
                <a:solidFill>
                  <a:srgbClr val="C9D1D9"/>
                </a:solidFill>
                <a:latin typeface="Calibri" pitchFamily="34" charset="0"/>
                <a:ea typeface="Calibri" pitchFamily="34" charset="-122"/>
                <a:cs typeface="Calibri" pitchFamily="34" charset="-120"/>
              </a:rPr>
              <a:t>Web Application Penetration Testing</a:t>
            </a:r>
            <a:endParaRPr lang="en-US" sz="2000" dirty="0"/>
          </a:p>
        </p:txBody>
      </p:sp>
      <p:sp>
        <p:nvSpPr>
          <p:cNvPr id="11" name="Shape 9"/>
          <p:cNvSpPr/>
          <p:nvPr/>
        </p:nvSpPr>
        <p:spPr>
          <a:xfrm>
            <a:off x="365760" y="2606040"/>
            <a:ext cx="4572000" cy="0"/>
          </a:xfrm>
          <a:prstGeom prst="line">
            <a:avLst/>
          </a:prstGeom>
          <a:noFill/>
          <a:ln w="19050">
            <a:solidFill>
              <a:srgbClr val="00D4AA"/>
            </a:solidFill>
            <a:prstDash val="solid"/>
          </a:ln>
        </p:spPr>
      </p:sp>
      <p:sp>
        <p:nvSpPr>
          <p:cNvPr id="12" name="Text 10"/>
          <p:cNvSpPr/>
          <p:nvPr/>
        </p:nvSpPr>
        <p:spPr>
          <a:xfrm>
            <a:off x="365760" y="2788920"/>
            <a:ext cx="1371600" cy="292608"/>
          </a:xfrm>
          <a:prstGeom prst="rect">
            <a:avLst/>
          </a:prstGeom>
          <a:noFill/>
          <a:ln/>
        </p:spPr>
        <p:txBody>
          <a:bodyPr wrap="square" lIns="0" tIns="0" rIns="0" bIns="0" rtlCol="0" anchor="ctr"/>
          <a:lstStyle/>
          <a:p>
            <a:pPr indent="0" marL="0">
              <a:buNone/>
            </a:pPr>
            <a:r>
              <a:rPr lang="en-US" sz="900" b="1" dirty="0">
                <a:solidFill>
                  <a:srgbClr val="00D4AA"/>
                </a:solidFill>
                <a:latin typeface="Consolas" pitchFamily="34" charset="0"/>
                <a:ea typeface="Consolas" pitchFamily="34" charset="-122"/>
                <a:cs typeface="Consolas" pitchFamily="34" charset="-120"/>
              </a:rPr>
              <a:t>TARGET:</a:t>
            </a:r>
            <a:endParaRPr lang="en-US" sz="900" dirty="0"/>
          </a:p>
        </p:txBody>
      </p:sp>
      <p:sp>
        <p:nvSpPr>
          <p:cNvPr id="13" name="Text 11"/>
          <p:cNvSpPr/>
          <p:nvPr/>
        </p:nvSpPr>
        <p:spPr>
          <a:xfrm>
            <a:off x="1737360" y="2788920"/>
            <a:ext cx="6858000" cy="292608"/>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Bookify Hotel Web App — http://192.168.1.7:9000</a:t>
            </a:r>
            <a:endParaRPr lang="en-US" sz="1000" dirty="0"/>
          </a:p>
        </p:txBody>
      </p:sp>
      <p:sp>
        <p:nvSpPr>
          <p:cNvPr id="14" name="Text 12"/>
          <p:cNvSpPr/>
          <p:nvPr/>
        </p:nvSpPr>
        <p:spPr>
          <a:xfrm>
            <a:off x="365760" y="3136392"/>
            <a:ext cx="1371600" cy="292608"/>
          </a:xfrm>
          <a:prstGeom prst="rect">
            <a:avLst/>
          </a:prstGeom>
          <a:noFill/>
          <a:ln/>
        </p:spPr>
        <p:txBody>
          <a:bodyPr wrap="square" lIns="0" tIns="0" rIns="0" bIns="0" rtlCol="0" anchor="ctr"/>
          <a:lstStyle/>
          <a:p>
            <a:pPr indent="0" marL="0">
              <a:buNone/>
            </a:pPr>
            <a:r>
              <a:rPr lang="en-US" sz="900" b="1" dirty="0">
                <a:solidFill>
                  <a:srgbClr val="00D4AA"/>
                </a:solidFill>
                <a:latin typeface="Consolas" pitchFamily="34" charset="0"/>
                <a:ea typeface="Consolas" pitchFamily="34" charset="-122"/>
                <a:cs typeface="Consolas" pitchFamily="34" charset="-120"/>
              </a:rPr>
              <a:t>PLATFORM:</a:t>
            </a:r>
            <a:endParaRPr lang="en-US" sz="900" dirty="0"/>
          </a:p>
        </p:txBody>
      </p:sp>
      <p:sp>
        <p:nvSpPr>
          <p:cNvPr id="15" name="Text 13"/>
          <p:cNvSpPr/>
          <p:nvPr/>
        </p:nvSpPr>
        <p:spPr>
          <a:xfrm>
            <a:off x="1737360" y="3136392"/>
            <a:ext cx="6858000" cy="292608"/>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.NET / Docker Container (HotelEcomm.dll)</a:t>
            </a:r>
            <a:endParaRPr lang="en-US" sz="1000" dirty="0"/>
          </a:p>
        </p:txBody>
      </p:sp>
      <p:sp>
        <p:nvSpPr>
          <p:cNvPr id="16" name="Text 14"/>
          <p:cNvSpPr/>
          <p:nvPr/>
        </p:nvSpPr>
        <p:spPr>
          <a:xfrm>
            <a:off x="365760" y="3483864"/>
            <a:ext cx="1371600" cy="292608"/>
          </a:xfrm>
          <a:prstGeom prst="rect">
            <a:avLst/>
          </a:prstGeom>
          <a:noFill/>
          <a:ln/>
        </p:spPr>
        <p:txBody>
          <a:bodyPr wrap="square" lIns="0" tIns="0" rIns="0" bIns="0" rtlCol="0" anchor="ctr"/>
          <a:lstStyle/>
          <a:p>
            <a:pPr indent="0" marL="0">
              <a:buNone/>
            </a:pPr>
            <a:r>
              <a:rPr lang="en-US" sz="900" b="1" dirty="0">
                <a:solidFill>
                  <a:srgbClr val="00D4AA"/>
                </a:solidFill>
                <a:latin typeface="Consolas" pitchFamily="34" charset="0"/>
                <a:ea typeface="Consolas" pitchFamily="34" charset="-122"/>
                <a:cs typeface="Consolas" pitchFamily="34" charset="-120"/>
              </a:rPr>
              <a:t>ENVIRONMENT:</a:t>
            </a:r>
            <a:endParaRPr lang="en-US" sz="900" dirty="0"/>
          </a:p>
        </p:txBody>
      </p:sp>
      <p:sp>
        <p:nvSpPr>
          <p:cNvPr id="17" name="Text 15"/>
          <p:cNvSpPr/>
          <p:nvPr/>
        </p:nvSpPr>
        <p:spPr>
          <a:xfrm>
            <a:off x="1737360" y="3483864"/>
            <a:ext cx="6858000" cy="292608"/>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Kali Linux VM → Host Network (VirtualBox)</a:t>
            </a:r>
            <a:endParaRPr lang="en-US" sz="1000" dirty="0"/>
          </a:p>
        </p:txBody>
      </p:sp>
      <p:sp>
        <p:nvSpPr>
          <p:cNvPr id="18" name="Text 16"/>
          <p:cNvSpPr/>
          <p:nvPr/>
        </p:nvSpPr>
        <p:spPr>
          <a:xfrm>
            <a:off x="365760" y="3831336"/>
            <a:ext cx="1371600" cy="292608"/>
          </a:xfrm>
          <a:prstGeom prst="rect">
            <a:avLst/>
          </a:prstGeom>
          <a:noFill/>
          <a:ln/>
        </p:spPr>
        <p:txBody>
          <a:bodyPr wrap="square" lIns="0" tIns="0" rIns="0" bIns="0" rtlCol="0" anchor="ctr"/>
          <a:lstStyle/>
          <a:p>
            <a:pPr indent="0" marL="0">
              <a:buNone/>
            </a:pPr>
            <a:r>
              <a:rPr lang="en-US" sz="900" b="1" dirty="0">
                <a:solidFill>
                  <a:srgbClr val="00D4AA"/>
                </a:solidFill>
                <a:latin typeface="Consolas" pitchFamily="34" charset="0"/>
                <a:ea typeface="Consolas" pitchFamily="34" charset="-122"/>
                <a:cs typeface="Consolas" pitchFamily="34" charset="-120"/>
              </a:rPr>
              <a:t>STATUS:</a:t>
            </a:r>
            <a:endParaRPr lang="en-US" sz="900" dirty="0"/>
          </a:p>
        </p:txBody>
      </p:sp>
      <p:sp>
        <p:nvSpPr>
          <p:cNvPr id="19" name="Text 17"/>
          <p:cNvSpPr/>
          <p:nvPr/>
        </p:nvSpPr>
        <p:spPr>
          <a:xfrm>
            <a:off x="1737360" y="3831336"/>
            <a:ext cx="6858000" cy="292608"/>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Container healthy | Port 9000 exposed</a:t>
            </a:r>
            <a:endParaRPr lang="en-US" sz="1000" dirty="0"/>
          </a:p>
        </p:txBody>
      </p:sp>
      <p:sp>
        <p:nvSpPr>
          <p:cNvPr id="20" name="Text 18"/>
          <p:cNvSpPr/>
          <p:nvPr/>
        </p:nvSpPr>
        <p:spPr>
          <a:xfrm>
            <a:off x="365760" y="4178808"/>
            <a:ext cx="1371600" cy="292608"/>
          </a:xfrm>
          <a:prstGeom prst="rect">
            <a:avLst/>
          </a:prstGeom>
          <a:noFill/>
          <a:ln/>
        </p:spPr>
        <p:txBody>
          <a:bodyPr wrap="square" lIns="0" tIns="0" rIns="0" bIns="0" rtlCol="0" anchor="ctr"/>
          <a:lstStyle/>
          <a:p>
            <a:pPr indent="0" marL="0">
              <a:buNone/>
            </a:pPr>
            <a:r>
              <a:rPr lang="en-US" sz="900" b="1" dirty="0">
                <a:solidFill>
                  <a:srgbClr val="00D4AA"/>
                </a:solidFill>
                <a:latin typeface="Consolas" pitchFamily="34" charset="0"/>
                <a:ea typeface="Consolas" pitchFamily="34" charset="-122"/>
                <a:cs typeface="Consolas" pitchFamily="34" charset="-120"/>
              </a:rPr>
              <a:t>DATE:</a:t>
            </a:r>
            <a:endParaRPr lang="en-US" sz="900" dirty="0"/>
          </a:p>
        </p:txBody>
      </p:sp>
      <p:sp>
        <p:nvSpPr>
          <p:cNvPr id="21" name="Text 19"/>
          <p:cNvSpPr/>
          <p:nvPr/>
        </p:nvSpPr>
        <p:spPr>
          <a:xfrm>
            <a:off x="1737360" y="4178808"/>
            <a:ext cx="6858000" cy="292608"/>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May 2, 2026</a:t>
            </a:r>
            <a:endParaRPr lang="en-US" sz="1000" dirty="0"/>
          </a:p>
        </p:txBody>
      </p:sp>
      <p:sp>
        <p:nvSpPr>
          <p:cNvPr id="22" name="Shape 20"/>
          <p:cNvSpPr/>
          <p:nvPr/>
        </p:nvSpPr>
        <p:spPr>
          <a:xfrm>
            <a:off x="6583680" y="457200"/>
            <a:ext cx="2286000" cy="457200"/>
          </a:xfrm>
          <a:prstGeom prst="rect">
            <a:avLst/>
          </a:prstGeom>
          <a:solidFill>
            <a:srgbClr val="FF4444"/>
          </a:solidFill>
          <a:ln w="12700">
            <a:solidFill>
              <a:srgbClr val="000000"/>
            </a:solidFill>
            <a:prstDash val="solid"/>
          </a:ln>
        </p:spPr>
      </p:sp>
      <p:sp>
        <p:nvSpPr>
          <p:cNvPr id="23" name="Text 21"/>
          <p:cNvSpPr/>
          <p:nvPr/>
        </p:nvSpPr>
        <p:spPr>
          <a:xfrm>
            <a:off x="6583680" y="457200"/>
            <a:ext cx="2286000" cy="457200"/>
          </a:xfrm>
          <a:prstGeom prst="rect">
            <a:avLst/>
          </a:prstGeom>
          <a:noFill/>
          <a:ln/>
        </p:spPr>
        <p:txBody>
          <a:bodyPr wrap="square" rtlCol="0" anchor="ctr"/>
          <a:lstStyle/>
          <a:p>
            <a:pPr algn="ctr" indent="0" marL="0">
              <a:buNone/>
            </a:pPr>
            <a:r>
              <a:rPr lang="en-US" sz="1100" b="1" spc="200" kern="0" dirty="0">
                <a:solidFill>
                  <a:srgbClr val="FFFFFF"/>
                </a:solidFill>
                <a:latin typeface="Consolas" pitchFamily="34" charset="0"/>
                <a:ea typeface="Consolas" pitchFamily="34" charset="-122"/>
                <a:cs typeface="Consolas" pitchFamily="34" charset="-120"/>
              </a:rPr>
              <a:t>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AA"/>
          </a:solidFill>
          <a:ln/>
        </p:spPr>
      </p:sp>
      <p:sp>
        <p:nvSpPr>
          <p:cNvPr id="3" name="Shape 1"/>
          <p:cNvSpPr/>
          <p:nvPr/>
        </p:nvSpPr>
        <p:spPr>
          <a:xfrm>
            <a:off x="0" y="0"/>
            <a:ext cx="54864" cy="5143500"/>
          </a:xfrm>
          <a:prstGeom prst="rect">
            <a:avLst/>
          </a:prstGeom>
          <a:solidFill>
            <a:srgbClr val="00D4AA"/>
          </a:solidFill>
          <a:ln/>
        </p:spPr>
      </p:sp>
      <p:sp>
        <p:nvSpPr>
          <p:cNvPr id="4" name="Text 2"/>
          <p:cNvSpPr/>
          <p:nvPr/>
        </p:nvSpPr>
        <p:spPr>
          <a:xfrm>
            <a:off x="274320" y="182880"/>
            <a:ext cx="859536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Executive Summary</a:t>
            </a:r>
            <a:endParaRPr lang="en-US" sz="2400" dirty="0"/>
          </a:p>
        </p:txBody>
      </p:sp>
      <p:sp>
        <p:nvSpPr>
          <p:cNvPr id="5" name="Shape 3"/>
          <p:cNvSpPr/>
          <p:nvPr/>
        </p:nvSpPr>
        <p:spPr>
          <a:xfrm>
            <a:off x="274320" y="713232"/>
            <a:ext cx="8412480" cy="0"/>
          </a:xfrm>
          <a:prstGeom prst="line">
            <a:avLst/>
          </a:prstGeom>
          <a:noFill/>
          <a:ln w="10160">
            <a:solidFill>
              <a:srgbClr val="30363D"/>
            </a:solidFill>
            <a:prstDash val="solid"/>
          </a:ln>
        </p:spPr>
      </p:sp>
      <p:sp>
        <p:nvSpPr>
          <p:cNvPr id="6" name="Text 4"/>
          <p:cNvSpPr/>
          <p:nvPr/>
        </p:nvSpPr>
        <p:spPr>
          <a:xfrm>
            <a:off x="274320" y="822960"/>
            <a:ext cx="8595360" cy="868680"/>
          </a:xfrm>
          <a:prstGeom prst="rect">
            <a:avLst/>
          </a:prstGeom>
          <a:noFill/>
          <a:ln/>
        </p:spPr>
        <p:txBody>
          <a:bodyPr wrap="square" lIns="0" tIns="0" rIns="0" bIns="0" rtlCol="0" anchor="ctr"/>
          <a:lstStyle/>
          <a:p>
            <a:pPr indent="0" marL="0">
              <a:buNone/>
            </a:pPr>
            <a:r>
              <a:rPr lang="en-US" sz="1150" dirty="0">
                <a:solidFill>
                  <a:srgbClr val="C9D1D9"/>
                </a:solidFill>
                <a:latin typeface="Calibri" pitchFamily="34" charset="0"/>
                <a:ea typeface="Calibri" pitchFamily="34" charset="-122"/>
                <a:cs typeface="Calibri" pitchFamily="34" charset="-120"/>
              </a:rPr>
              <a:t>A penetration test was conducted against the Bookify Hotel web application, a .NET-based luxury hotel booking platform deployed as a Docker container. The application was accessed from a Kali Linux virtual machine via the host network. Testing revealed the application is externally reachable, lacks HTTPS, and exposes an unprotected management interface. Several attack vectors were identified that could compromise guest data and business operations.</a:t>
            </a:r>
            <a:endParaRPr lang="en-US" sz="1150" dirty="0"/>
          </a:p>
        </p:txBody>
      </p:sp>
      <p:sp>
        <p:nvSpPr>
          <p:cNvPr id="7" name="Shape 5"/>
          <p:cNvSpPr/>
          <p:nvPr/>
        </p:nvSpPr>
        <p:spPr>
          <a:xfrm>
            <a:off x="274320" y="1783080"/>
            <a:ext cx="2011680" cy="1234440"/>
          </a:xfrm>
          <a:prstGeom prst="rect">
            <a:avLst/>
          </a:prstGeom>
          <a:solidFill>
            <a:srgbClr val="1C2333"/>
          </a:solidFill>
          <a:ln w="6350">
            <a:solidFill>
              <a:srgbClr val="30363D"/>
            </a:solidFill>
            <a:prstDash val="solid"/>
          </a:ln>
          <a:effectLst>
            <a:outerShdw sx="100000" sy="100000" kx="0" ky="0" algn="bl" rotWithShape="0" blurRad="101600" dist="38100" dir="8100000">
              <a:srgbClr val="000000">
                <a:alpha val="40000"/>
              </a:srgbClr>
            </a:outerShdw>
          </a:effectLst>
        </p:spPr>
      </p:sp>
      <p:sp>
        <p:nvSpPr>
          <p:cNvPr id="8" name="Shape 6"/>
          <p:cNvSpPr/>
          <p:nvPr/>
        </p:nvSpPr>
        <p:spPr>
          <a:xfrm>
            <a:off x="274320" y="1783080"/>
            <a:ext cx="2011680" cy="73152"/>
          </a:xfrm>
          <a:prstGeom prst="rect">
            <a:avLst/>
          </a:prstGeom>
          <a:solidFill>
            <a:srgbClr val="FF4444"/>
          </a:solidFill>
          <a:ln/>
        </p:spPr>
      </p:sp>
      <p:sp>
        <p:nvSpPr>
          <p:cNvPr id="9" name="Text 7"/>
          <p:cNvSpPr/>
          <p:nvPr/>
        </p:nvSpPr>
        <p:spPr>
          <a:xfrm>
            <a:off x="274320" y="1920240"/>
            <a:ext cx="2011680" cy="594360"/>
          </a:xfrm>
          <a:prstGeom prst="rect">
            <a:avLst/>
          </a:prstGeom>
          <a:noFill/>
          <a:ln/>
        </p:spPr>
        <p:txBody>
          <a:bodyPr wrap="square" lIns="0" tIns="0" rIns="0" bIns="0" rtlCol="0" anchor="ctr"/>
          <a:lstStyle/>
          <a:p>
            <a:pPr algn="ctr" indent="0" marL="0">
              <a:buNone/>
            </a:pPr>
            <a:r>
              <a:rPr lang="en-US" sz="3800" b="1" dirty="0">
                <a:solidFill>
                  <a:srgbClr val="FF4444"/>
                </a:solidFill>
                <a:latin typeface="Calibri" pitchFamily="34" charset="0"/>
                <a:ea typeface="Calibri" pitchFamily="34" charset="-122"/>
                <a:cs typeface="Calibri" pitchFamily="34" charset="-120"/>
              </a:rPr>
              <a:t>2</a:t>
            </a:r>
            <a:endParaRPr lang="en-US" sz="3800" dirty="0"/>
          </a:p>
        </p:txBody>
      </p:sp>
      <p:sp>
        <p:nvSpPr>
          <p:cNvPr id="10" name="Text 8"/>
          <p:cNvSpPr/>
          <p:nvPr/>
        </p:nvSpPr>
        <p:spPr>
          <a:xfrm>
            <a:off x="274320" y="2560320"/>
            <a:ext cx="2011680" cy="320040"/>
          </a:xfrm>
          <a:prstGeom prst="rect">
            <a:avLst/>
          </a:prstGeom>
          <a:noFill/>
          <a:ln/>
        </p:spPr>
        <p:txBody>
          <a:bodyPr wrap="square" lIns="0" tIns="0" rIns="0" bIns="0" rtlCol="0" anchor="ctr"/>
          <a:lstStyle/>
          <a:p>
            <a:pPr algn="ctr" indent="0" marL="0">
              <a:buNone/>
            </a:pPr>
            <a:r>
              <a:rPr lang="en-US" sz="950" b="1" dirty="0">
                <a:solidFill>
                  <a:srgbClr val="8B949E"/>
                </a:solidFill>
                <a:latin typeface="Consolas" pitchFamily="34" charset="0"/>
                <a:ea typeface="Consolas" pitchFamily="34" charset="-122"/>
                <a:cs typeface="Consolas" pitchFamily="34" charset="-120"/>
              </a:rPr>
              <a:t>CRITICAL</a:t>
            </a:r>
            <a:endParaRPr lang="en-US" sz="950" dirty="0"/>
          </a:p>
        </p:txBody>
      </p:sp>
      <p:sp>
        <p:nvSpPr>
          <p:cNvPr id="11" name="Shape 9"/>
          <p:cNvSpPr/>
          <p:nvPr/>
        </p:nvSpPr>
        <p:spPr>
          <a:xfrm>
            <a:off x="2450592" y="1783080"/>
            <a:ext cx="2011680" cy="1234440"/>
          </a:xfrm>
          <a:prstGeom prst="rect">
            <a:avLst/>
          </a:prstGeom>
          <a:solidFill>
            <a:srgbClr val="1C2333"/>
          </a:solidFill>
          <a:ln w="6350">
            <a:solidFill>
              <a:srgbClr val="30363D"/>
            </a:solidFill>
            <a:prstDash val="solid"/>
          </a:ln>
          <a:effectLst>
            <a:outerShdw sx="100000" sy="100000" kx="0" ky="0" algn="bl" rotWithShape="0" blurRad="101600" dist="38100" dir="8100000">
              <a:srgbClr val="000000">
                <a:alpha val="40000"/>
              </a:srgbClr>
            </a:outerShdw>
          </a:effectLst>
        </p:spPr>
      </p:sp>
      <p:sp>
        <p:nvSpPr>
          <p:cNvPr id="12" name="Shape 10"/>
          <p:cNvSpPr/>
          <p:nvPr/>
        </p:nvSpPr>
        <p:spPr>
          <a:xfrm>
            <a:off x="2450592" y="1783080"/>
            <a:ext cx="2011680" cy="73152"/>
          </a:xfrm>
          <a:prstGeom prst="rect">
            <a:avLst/>
          </a:prstGeom>
          <a:solidFill>
            <a:srgbClr val="FF8C00"/>
          </a:solidFill>
          <a:ln/>
        </p:spPr>
      </p:sp>
      <p:sp>
        <p:nvSpPr>
          <p:cNvPr id="13" name="Text 11"/>
          <p:cNvSpPr/>
          <p:nvPr/>
        </p:nvSpPr>
        <p:spPr>
          <a:xfrm>
            <a:off x="2450592" y="1920240"/>
            <a:ext cx="2011680" cy="594360"/>
          </a:xfrm>
          <a:prstGeom prst="rect">
            <a:avLst/>
          </a:prstGeom>
          <a:noFill/>
          <a:ln/>
        </p:spPr>
        <p:txBody>
          <a:bodyPr wrap="square" lIns="0" tIns="0" rIns="0" bIns="0" rtlCol="0" anchor="ctr"/>
          <a:lstStyle/>
          <a:p>
            <a:pPr algn="ctr" indent="0" marL="0">
              <a:buNone/>
            </a:pPr>
            <a:r>
              <a:rPr lang="en-US" sz="3800" b="1" dirty="0">
                <a:solidFill>
                  <a:srgbClr val="FF8C00"/>
                </a:solidFill>
                <a:latin typeface="Calibri" pitchFamily="34" charset="0"/>
                <a:ea typeface="Calibri" pitchFamily="34" charset="-122"/>
                <a:cs typeface="Calibri" pitchFamily="34" charset="-120"/>
              </a:rPr>
              <a:t>3</a:t>
            </a:r>
            <a:endParaRPr lang="en-US" sz="3800" dirty="0"/>
          </a:p>
        </p:txBody>
      </p:sp>
      <p:sp>
        <p:nvSpPr>
          <p:cNvPr id="14" name="Text 12"/>
          <p:cNvSpPr/>
          <p:nvPr/>
        </p:nvSpPr>
        <p:spPr>
          <a:xfrm>
            <a:off x="2450592" y="2560320"/>
            <a:ext cx="2011680" cy="320040"/>
          </a:xfrm>
          <a:prstGeom prst="rect">
            <a:avLst/>
          </a:prstGeom>
          <a:noFill/>
          <a:ln/>
        </p:spPr>
        <p:txBody>
          <a:bodyPr wrap="square" lIns="0" tIns="0" rIns="0" bIns="0" rtlCol="0" anchor="ctr"/>
          <a:lstStyle/>
          <a:p>
            <a:pPr algn="ctr" indent="0" marL="0">
              <a:buNone/>
            </a:pPr>
            <a:r>
              <a:rPr lang="en-US" sz="950" b="1" dirty="0">
                <a:solidFill>
                  <a:srgbClr val="8B949E"/>
                </a:solidFill>
                <a:latin typeface="Consolas" pitchFamily="34" charset="0"/>
                <a:ea typeface="Consolas" pitchFamily="34" charset="-122"/>
                <a:cs typeface="Consolas" pitchFamily="34" charset="-120"/>
              </a:rPr>
              <a:t>HIGH</a:t>
            </a:r>
            <a:endParaRPr lang="en-US" sz="950" dirty="0"/>
          </a:p>
        </p:txBody>
      </p:sp>
      <p:sp>
        <p:nvSpPr>
          <p:cNvPr id="15" name="Shape 13"/>
          <p:cNvSpPr/>
          <p:nvPr/>
        </p:nvSpPr>
        <p:spPr>
          <a:xfrm>
            <a:off x="4626864" y="1783080"/>
            <a:ext cx="2011680" cy="1234440"/>
          </a:xfrm>
          <a:prstGeom prst="rect">
            <a:avLst/>
          </a:prstGeom>
          <a:solidFill>
            <a:srgbClr val="1C2333"/>
          </a:solidFill>
          <a:ln w="6350">
            <a:solidFill>
              <a:srgbClr val="30363D"/>
            </a:solidFill>
            <a:prstDash val="solid"/>
          </a:ln>
          <a:effectLst>
            <a:outerShdw sx="100000" sy="100000" kx="0" ky="0" algn="bl" rotWithShape="0" blurRad="101600" dist="38100" dir="8100000">
              <a:srgbClr val="000000">
                <a:alpha val="40000"/>
              </a:srgbClr>
            </a:outerShdw>
          </a:effectLst>
        </p:spPr>
      </p:sp>
      <p:sp>
        <p:nvSpPr>
          <p:cNvPr id="16" name="Shape 14"/>
          <p:cNvSpPr/>
          <p:nvPr/>
        </p:nvSpPr>
        <p:spPr>
          <a:xfrm>
            <a:off x="4626864" y="1783080"/>
            <a:ext cx="2011680" cy="73152"/>
          </a:xfrm>
          <a:prstGeom prst="rect">
            <a:avLst/>
          </a:prstGeom>
          <a:solidFill>
            <a:srgbClr val="FFD700"/>
          </a:solidFill>
          <a:ln/>
        </p:spPr>
      </p:sp>
      <p:sp>
        <p:nvSpPr>
          <p:cNvPr id="17" name="Text 15"/>
          <p:cNvSpPr/>
          <p:nvPr/>
        </p:nvSpPr>
        <p:spPr>
          <a:xfrm>
            <a:off x="4626864" y="1920240"/>
            <a:ext cx="2011680" cy="594360"/>
          </a:xfrm>
          <a:prstGeom prst="rect">
            <a:avLst/>
          </a:prstGeom>
          <a:noFill/>
          <a:ln/>
        </p:spPr>
        <p:txBody>
          <a:bodyPr wrap="square" lIns="0" tIns="0" rIns="0" bIns="0" rtlCol="0" anchor="ctr"/>
          <a:lstStyle/>
          <a:p>
            <a:pPr algn="ctr" indent="0" marL="0">
              <a:buNone/>
            </a:pPr>
            <a:r>
              <a:rPr lang="en-US" sz="3800" b="1" dirty="0">
                <a:solidFill>
                  <a:srgbClr val="FFD700"/>
                </a:solidFill>
                <a:latin typeface="Calibri" pitchFamily="34" charset="0"/>
                <a:ea typeface="Calibri" pitchFamily="34" charset="-122"/>
                <a:cs typeface="Calibri" pitchFamily="34" charset="-120"/>
              </a:rPr>
              <a:t>4</a:t>
            </a:r>
            <a:endParaRPr lang="en-US" sz="3800" dirty="0"/>
          </a:p>
        </p:txBody>
      </p:sp>
      <p:sp>
        <p:nvSpPr>
          <p:cNvPr id="18" name="Text 16"/>
          <p:cNvSpPr/>
          <p:nvPr/>
        </p:nvSpPr>
        <p:spPr>
          <a:xfrm>
            <a:off x="4626864" y="2560320"/>
            <a:ext cx="2011680" cy="320040"/>
          </a:xfrm>
          <a:prstGeom prst="rect">
            <a:avLst/>
          </a:prstGeom>
          <a:noFill/>
          <a:ln/>
        </p:spPr>
        <p:txBody>
          <a:bodyPr wrap="square" lIns="0" tIns="0" rIns="0" bIns="0" rtlCol="0" anchor="ctr"/>
          <a:lstStyle/>
          <a:p>
            <a:pPr algn="ctr" indent="0" marL="0">
              <a:buNone/>
            </a:pPr>
            <a:r>
              <a:rPr lang="en-US" sz="950" b="1" dirty="0">
                <a:solidFill>
                  <a:srgbClr val="8B949E"/>
                </a:solidFill>
                <a:latin typeface="Consolas" pitchFamily="34" charset="0"/>
                <a:ea typeface="Consolas" pitchFamily="34" charset="-122"/>
                <a:cs typeface="Consolas" pitchFamily="34" charset="-120"/>
              </a:rPr>
              <a:t>MEDIUM</a:t>
            </a:r>
            <a:endParaRPr lang="en-US" sz="950" dirty="0"/>
          </a:p>
        </p:txBody>
      </p:sp>
      <p:sp>
        <p:nvSpPr>
          <p:cNvPr id="19" name="Shape 17"/>
          <p:cNvSpPr/>
          <p:nvPr/>
        </p:nvSpPr>
        <p:spPr>
          <a:xfrm>
            <a:off x="6803136" y="1783080"/>
            <a:ext cx="2011680" cy="1234440"/>
          </a:xfrm>
          <a:prstGeom prst="rect">
            <a:avLst/>
          </a:prstGeom>
          <a:solidFill>
            <a:srgbClr val="1C2333"/>
          </a:solidFill>
          <a:ln w="6350">
            <a:solidFill>
              <a:srgbClr val="30363D"/>
            </a:solidFill>
            <a:prstDash val="solid"/>
          </a:ln>
          <a:effectLst>
            <a:outerShdw sx="100000" sy="100000" kx="0" ky="0" algn="bl" rotWithShape="0" blurRad="101600" dist="38100" dir="8100000">
              <a:srgbClr val="000000">
                <a:alpha val="40000"/>
              </a:srgbClr>
            </a:outerShdw>
          </a:effectLst>
        </p:spPr>
      </p:sp>
      <p:sp>
        <p:nvSpPr>
          <p:cNvPr id="20" name="Shape 18"/>
          <p:cNvSpPr/>
          <p:nvPr/>
        </p:nvSpPr>
        <p:spPr>
          <a:xfrm>
            <a:off x="6803136" y="1783080"/>
            <a:ext cx="2011680" cy="73152"/>
          </a:xfrm>
          <a:prstGeom prst="rect">
            <a:avLst/>
          </a:prstGeom>
          <a:solidFill>
            <a:srgbClr val="00D4AA"/>
          </a:solidFill>
          <a:ln/>
        </p:spPr>
      </p:sp>
      <p:sp>
        <p:nvSpPr>
          <p:cNvPr id="21" name="Text 19"/>
          <p:cNvSpPr/>
          <p:nvPr/>
        </p:nvSpPr>
        <p:spPr>
          <a:xfrm>
            <a:off x="6803136" y="1920240"/>
            <a:ext cx="2011680" cy="594360"/>
          </a:xfrm>
          <a:prstGeom prst="rect">
            <a:avLst/>
          </a:prstGeom>
          <a:noFill/>
          <a:ln/>
        </p:spPr>
        <p:txBody>
          <a:bodyPr wrap="square" lIns="0" tIns="0" rIns="0" bIns="0" rtlCol="0" anchor="ctr"/>
          <a:lstStyle/>
          <a:p>
            <a:pPr algn="ctr" indent="0" marL="0">
              <a:buNone/>
            </a:pPr>
            <a:r>
              <a:rPr lang="en-US" sz="3800" b="1" dirty="0">
                <a:solidFill>
                  <a:srgbClr val="00D4AA"/>
                </a:solidFill>
                <a:latin typeface="Calibri" pitchFamily="34" charset="0"/>
                <a:ea typeface="Calibri" pitchFamily="34" charset="-122"/>
                <a:cs typeface="Calibri" pitchFamily="34" charset="-120"/>
              </a:rPr>
              <a:t>3</a:t>
            </a:r>
            <a:endParaRPr lang="en-US" sz="3800" dirty="0"/>
          </a:p>
        </p:txBody>
      </p:sp>
      <p:sp>
        <p:nvSpPr>
          <p:cNvPr id="22" name="Text 20"/>
          <p:cNvSpPr/>
          <p:nvPr/>
        </p:nvSpPr>
        <p:spPr>
          <a:xfrm>
            <a:off x="6803136" y="2560320"/>
            <a:ext cx="2011680" cy="320040"/>
          </a:xfrm>
          <a:prstGeom prst="rect">
            <a:avLst/>
          </a:prstGeom>
          <a:noFill/>
          <a:ln/>
        </p:spPr>
        <p:txBody>
          <a:bodyPr wrap="square" lIns="0" tIns="0" rIns="0" bIns="0" rtlCol="0" anchor="ctr"/>
          <a:lstStyle/>
          <a:p>
            <a:pPr algn="ctr" indent="0" marL="0">
              <a:buNone/>
            </a:pPr>
            <a:r>
              <a:rPr lang="en-US" sz="950" b="1" dirty="0">
                <a:solidFill>
                  <a:srgbClr val="8B949E"/>
                </a:solidFill>
                <a:latin typeface="Consolas" pitchFamily="34" charset="0"/>
                <a:ea typeface="Consolas" pitchFamily="34" charset="-122"/>
                <a:cs typeface="Consolas" pitchFamily="34" charset="-120"/>
              </a:rPr>
              <a:t>LOW / INFO</a:t>
            </a:r>
            <a:endParaRPr lang="en-US" sz="950" dirty="0"/>
          </a:p>
        </p:txBody>
      </p:sp>
      <p:sp>
        <p:nvSpPr>
          <p:cNvPr id="23" name="Text 21"/>
          <p:cNvSpPr/>
          <p:nvPr/>
        </p:nvSpPr>
        <p:spPr>
          <a:xfrm>
            <a:off x="274320" y="3154680"/>
            <a:ext cx="8595360" cy="274320"/>
          </a:xfrm>
          <a:prstGeom prst="rect">
            <a:avLst/>
          </a:prstGeom>
          <a:noFill/>
          <a:ln/>
        </p:spPr>
        <p:txBody>
          <a:bodyPr wrap="square" lIns="0" tIns="0" rIns="0" bIns="0" rtlCol="0" anchor="ctr"/>
          <a:lstStyle/>
          <a:p>
            <a:pPr indent="0" marL="0">
              <a:buNone/>
            </a:pPr>
            <a:r>
              <a:rPr lang="en-US" sz="900" b="1" spc="300" kern="0" dirty="0">
                <a:solidFill>
                  <a:srgbClr val="00D4AA"/>
                </a:solidFill>
                <a:latin typeface="Consolas" pitchFamily="34" charset="0"/>
                <a:ea typeface="Consolas" pitchFamily="34" charset="-122"/>
                <a:cs typeface="Consolas" pitchFamily="34" charset="-120"/>
              </a:rPr>
              <a:t>KEY FINDINGS</a:t>
            </a:r>
            <a:endParaRPr lang="en-US" sz="900" dirty="0"/>
          </a:p>
        </p:txBody>
      </p:sp>
      <p:sp>
        <p:nvSpPr>
          <p:cNvPr id="24" name="Text 22"/>
          <p:cNvSpPr/>
          <p:nvPr/>
        </p:nvSpPr>
        <p:spPr>
          <a:xfrm>
            <a:off x="274320" y="3520440"/>
            <a:ext cx="8595360" cy="256032"/>
          </a:xfrm>
          <a:prstGeom prst="rect">
            <a:avLst/>
          </a:prstGeom>
          <a:noFill/>
          <a:ln/>
        </p:spPr>
        <p:txBody>
          <a:bodyPr wrap="square" lIns="0" tIns="0" rIns="0" bIns="0" rtlCol="0" anchor="ctr"/>
          <a:lstStyle/>
          <a:p>
            <a:pPr indent="0" marL="0">
              <a:buNone/>
            </a:pPr>
            <a:r>
              <a:rPr lang="en-US" sz="1050" b="1" dirty="0">
                <a:solidFill>
                  <a:srgbClr val="00D4AA"/>
                </a:solidFill>
                <a:latin typeface="Calibri" pitchFamily="34" charset="0"/>
                <a:ea typeface="Calibri" pitchFamily="34" charset="-122"/>
                <a:cs typeface="Calibri" pitchFamily="34" charset="-120"/>
              </a:rPr>
              <a:t>▸  </a:t>
            </a:r>
            <a:pPr indent="0" marL="0">
              <a:buNone/>
            </a:pPr>
            <a:r>
              <a:rPr lang="en-US" sz="1050" dirty="0">
                <a:solidFill>
                  <a:srgbClr val="C9D1D9"/>
                </a:solidFill>
                <a:latin typeface="Calibri" pitchFamily="34" charset="0"/>
                <a:ea typeface="Calibri" pitchFamily="34" charset="-122"/>
                <a:cs typeface="Calibri" pitchFamily="34" charset="-120"/>
              </a:rPr>
              <a:t>Application served over unencrypted HTTP — all traffic is interceptable</a:t>
            </a:r>
            <a:endParaRPr lang="en-US" sz="1050" dirty="0"/>
          </a:p>
        </p:txBody>
      </p:sp>
      <p:sp>
        <p:nvSpPr>
          <p:cNvPr id="25" name="Text 23"/>
          <p:cNvSpPr/>
          <p:nvPr/>
        </p:nvSpPr>
        <p:spPr>
          <a:xfrm>
            <a:off x="274320" y="3813048"/>
            <a:ext cx="8595360" cy="256032"/>
          </a:xfrm>
          <a:prstGeom prst="rect">
            <a:avLst/>
          </a:prstGeom>
          <a:noFill/>
          <a:ln/>
        </p:spPr>
        <p:txBody>
          <a:bodyPr wrap="square" lIns="0" tIns="0" rIns="0" bIns="0" rtlCol="0" anchor="ctr"/>
          <a:lstStyle/>
          <a:p>
            <a:pPr indent="0" marL="0">
              <a:buNone/>
            </a:pPr>
            <a:r>
              <a:rPr lang="en-US" sz="1050" b="1" dirty="0">
                <a:solidFill>
                  <a:srgbClr val="00D4AA"/>
                </a:solidFill>
                <a:latin typeface="Calibri" pitchFamily="34" charset="0"/>
                <a:ea typeface="Calibri" pitchFamily="34" charset="-122"/>
                <a:cs typeface="Calibri" pitchFamily="34" charset="-120"/>
              </a:rPr>
              <a:t>▸  </a:t>
            </a:r>
            <a:pPr indent="0" marL="0">
              <a:buNone/>
            </a:pPr>
            <a:r>
              <a:rPr lang="en-US" sz="1050" dirty="0">
                <a:solidFill>
                  <a:srgbClr val="C9D1D9"/>
                </a:solidFill>
                <a:latin typeface="Calibri" pitchFamily="34" charset="0"/>
                <a:ea typeface="Calibri" pitchFamily="34" charset="-122"/>
                <a:cs typeface="Calibri" pitchFamily="34" charset="-120"/>
              </a:rPr>
              <a:t>Docker container port 9000 directly exposed with no WAF or reverse proxy</a:t>
            </a:r>
            <a:endParaRPr lang="en-US" sz="1050" dirty="0"/>
          </a:p>
        </p:txBody>
      </p:sp>
      <p:sp>
        <p:nvSpPr>
          <p:cNvPr id="26" name="Text 24"/>
          <p:cNvSpPr/>
          <p:nvPr/>
        </p:nvSpPr>
        <p:spPr>
          <a:xfrm>
            <a:off x="274320" y="4105656"/>
            <a:ext cx="8595360" cy="256032"/>
          </a:xfrm>
          <a:prstGeom prst="rect">
            <a:avLst/>
          </a:prstGeom>
          <a:noFill/>
          <a:ln/>
        </p:spPr>
        <p:txBody>
          <a:bodyPr wrap="square" lIns="0" tIns="0" rIns="0" bIns="0" rtlCol="0" anchor="ctr"/>
          <a:lstStyle/>
          <a:p>
            <a:pPr indent="0" marL="0">
              <a:buNone/>
            </a:pPr>
            <a:r>
              <a:rPr lang="en-US" sz="1050" b="1" dirty="0">
                <a:solidFill>
                  <a:srgbClr val="00D4AA"/>
                </a:solidFill>
                <a:latin typeface="Calibri" pitchFamily="34" charset="0"/>
                <a:ea typeface="Calibri" pitchFamily="34" charset="-122"/>
                <a:cs typeface="Calibri" pitchFamily="34" charset="-120"/>
              </a:rPr>
              <a:t>▸  </a:t>
            </a:r>
            <a:pPr indent="0" marL="0">
              <a:buNone/>
            </a:pPr>
            <a:r>
              <a:rPr lang="en-US" sz="1050" dirty="0">
                <a:solidFill>
                  <a:srgbClr val="C9D1D9"/>
                </a:solidFill>
                <a:latin typeface="Calibri" pitchFamily="34" charset="0"/>
                <a:ea typeface="Calibri" pitchFamily="34" charset="-122"/>
                <a:cs typeface="Calibri" pitchFamily="34" charset="-120"/>
              </a:rPr>
              <a:t>Network isolation insufficient — VM can reach host application directly</a:t>
            </a:r>
            <a:endParaRPr lang="en-US" sz="1050" dirty="0"/>
          </a:p>
        </p:txBody>
      </p:sp>
      <p:sp>
        <p:nvSpPr>
          <p:cNvPr id="27" name="Text 25"/>
          <p:cNvSpPr/>
          <p:nvPr/>
        </p:nvSpPr>
        <p:spPr>
          <a:xfrm>
            <a:off x="274320" y="4398264"/>
            <a:ext cx="8595360" cy="256032"/>
          </a:xfrm>
          <a:prstGeom prst="rect">
            <a:avLst/>
          </a:prstGeom>
          <a:noFill/>
          <a:ln/>
        </p:spPr>
        <p:txBody>
          <a:bodyPr wrap="square" lIns="0" tIns="0" rIns="0" bIns="0" rtlCol="0" anchor="ctr"/>
          <a:lstStyle/>
          <a:p>
            <a:pPr indent="0" marL="0">
              <a:buNone/>
            </a:pPr>
            <a:r>
              <a:rPr lang="en-US" sz="1050" b="1" dirty="0">
                <a:solidFill>
                  <a:srgbClr val="00D4AA"/>
                </a:solidFill>
                <a:latin typeface="Calibri" pitchFamily="34" charset="0"/>
                <a:ea typeface="Calibri" pitchFamily="34" charset="-122"/>
                <a:cs typeface="Calibri" pitchFamily="34" charset="-120"/>
              </a:rPr>
              <a:t>▸  </a:t>
            </a:r>
            <a:pPr indent="0" marL="0">
              <a:buNone/>
            </a:pPr>
            <a:r>
              <a:rPr lang="en-US" sz="1050" dirty="0">
                <a:solidFill>
                  <a:srgbClr val="C9D1D9"/>
                </a:solidFill>
                <a:latin typeface="Calibri" pitchFamily="34" charset="0"/>
                <a:ea typeface="Calibri" pitchFamily="34" charset="-122"/>
                <a:cs typeface="Calibri" pitchFamily="34" charset="-120"/>
              </a:rPr>
              <a:t>Port 8080 accepts connections but hangs (potential internal service leak)</a:t>
            </a:r>
            <a:endParaRPr lang="en-US" sz="1050" dirty="0"/>
          </a:p>
        </p:txBody>
      </p:sp>
      <p:sp>
        <p:nvSpPr>
          <p:cNvPr id="28" name="Text 26"/>
          <p:cNvSpPr/>
          <p:nvPr/>
        </p:nvSpPr>
        <p:spPr>
          <a:xfrm>
            <a:off x="274320" y="4690872"/>
            <a:ext cx="8595360" cy="256032"/>
          </a:xfrm>
          <a:prstGeom prst="rect">
            <a:avLst/>
          </a:prstGeom>
          <a:noFill/>
          <a:ln/>
        </p:spPr>
        <p:txBody>
          <a:bodyPr wrap="square" lIns="0" tIns="0" rIns="0" bIns="0" rtlCol="0" anchor="ctr"/>
          <a:lstStyle/>
          <a:p>
            <a:pPr indent="0" marL="0">
              <a:buNone/>
            </a:pPr>
            <a:r>
              <a:rPr lang="en-US" sz="1050" b="1" dirty="0">
                <a:solidFill>
                  <a:srgbClr val="00D4AA"/>
                </a:solidFill>
                <a:latin typeface="Calibri" pitchFamily="34" charset="0"/>
                <a:ea typeface="Calibri" pitchFamily="34" charset="-122"/>
                <a:cs typeface="Calibri" pitchFamily="34" charset="-120"/>
              </a:rPr>
              <a:t>▸  </a:t>
            </a:r>
            <a:pPr indent="0" marL="0">
              <a:buNone/>
            </a:pPr>
            <a:r>
              <a:rPr lang="en-US" sz="1050" dirty="0">
                <a:solidFill>
                  <a:srgbClr val="C9D1D9"/>
                </a:solidFill>
                <a:latin typeface="Calibri" pitchFamily="34" charset="0"/>
                <a:ea typeface="Calibri" pitchFamily="34" charset="-122"/>
                <a:cs typeface="Calibri" pitchFamily="34" charset="-120"/>
              </a:rPr>
              <a:t>No authentication enforcement observed on initial enumeration paths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AA"/>
          </a:solidFill>
          <a:ln/>
        </p:spPr>
      </p:sp>
      <p:sp>
        <p:nvSpPr>
          <p:cNvPr id="3" name="Shape 1"/>
          <p:cNvSpPr/>
          <p:nvPr/>
        </p:nvSpPr>
        <p:spPr>
          <a:xfrm>
            <a:off x="0" y="0"/>
            <a:ext cx="54864" cy="5143500"/>
          </a:xfrm>
          <a:prstGeom prst="rect">
            <a:avLst/>
          </a:prstGeom>
          <a:solidFill>
            <a:srgbClr val="00D4AA"/>
          </a:solidFill>
          <a:ln/>
        </p:spPr>
      </p:sp>
      <p:sp>
        <p:nvSpPr>
          <p:cNvPr id="4" name="Text 2"/>
          <p:cNvSpPr/>
          <p:nvPr/>
        </p:nvSpPr>
        <p:spPr>
          <a:xfrm>
            <a:off x="274320" y="182880"/>
            <a:ext cx="859536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Test Environment &amp; Scope</a:t>
            </a:r>
            <a:endParaRPr lang="en-US" sz="2400" dirty="0"/>
          </a:p>
        </p:txBody>
      </p:sp>
      <p:sp>
        <p:nvSpPr>
          <p:cNvPr id="5" name="Shape 3"/>
          <p:cNvSpPr/>
          <p:nvPr/>
        </p:nvSpPr>
        <p:spPr>
          <a:xfrm>
            <a:off x="274320" y="713232"/>
            <a:ext cx="8412480" cy="0"/>
          </a:xfrm>
          <a:prstGeom prst="line">
            <a:avLst/>
          </a:prstGeom>
          <a:noFill/>
          <a:ln w="10160">
            <a:solidFill>
              <a:srgbClr val="30363D"/>
            </a:solidFill>
            <a:prstDash val="solid"/>
          </a:ln>
        </p:spPr>
      </p:sp>
      <p:sp>
        <p:nvSpPr>
          <p:cNvPr id="6" name="Shape 4"/>
          <p:cNvSpPr/>
          <p:nvPr/>
        </p:nvSpPr>
        <p:spPr>
          <a:xfrm>
            <a:off x="274320" y="914400"/>
            <a:ext cx="2560320" cy="1371600"/>
          </a:xfrm>
          <a:prstGeom prst="rect">
            <a:avLst/>
          </a:prstGeom>
          <a:solidFill>
            <a:srgbClr val="1C2333"/>
          </a:solidFill>
          <a:ln w="19050">
            <a:solidFill>
              <a:srgbClr val="FF4444"/>
            </a:solidFill>
            <a:prstDash val="solid"/>
          </a:ln>
        </p:spPr>
      </p:sp>
      <p:sp>
        <p:nvSpPr>
          <p:cNvPr id="7" name="Text 5"/>
          <p:cNvSpPr/>
          <p:nvPr/>
        </p:nvSpPr>
        <p:spPr>
          <a:xfrm>
            <a:off x="274320" y="914400"/>
            <a:ext cx="2560320" cy="274320"/>
          </a:xfrm>
          <a:prstGeom prst="rect">
            <a:avLst/>
          </a:prstGeom>
          <a:noFill/>
          <a:ln/>
        </p:spPr>
        <p:txBody>
          <a:bodyPr wrap="square" lIns="0" tIns="0" rIns="0" bIns="0" rtlCol="0" anchor="ctr"/>
          <a:lstStyle/>
          <a:p>
            <a:pPr algn="ctr" indent="0" marL="0">
              <a:buNone/>
            </a:pPr>
            <a:r>
              <a:rPr lang="en-US" sz="800" b="1" dirty="0">
                <a:solidFill>
                  <a:srgbClr val="FF4444"/>
                </a:solidFill>
                <a:latin typeface="Consolas" pitchFamily="34" charset="0"/>
                <a:ea typeface="Consolas" pitchFamily="34" charset="-122"/>
                <a:cs typeface="Consolas" pitchFamily="34" charset="-120"/>
              </a:rPr>
              <a:t>ATTACKER</a:t>
            </a:r>
            <a:endParaRPr lang="en-US" sz="800" dirty="0"/>
          </a:p>
        </p:txBody>
      </p:sp>
      <p:sp>
        <p:nvSpPr>
          <p:cNvPr id="8" name="Shape 6"/>
          <p:cNvSpPr/>
          <p:nvPr/>
        </p:nvSpPr>
        <p:spPr>
          <a:xfrm>
            <a:off x="274320" y="1188720"/>
            <a:ext cx="2560320" cy="0"/>
          </a:xfrm>
          <a:prstGeom prst="line">
            <a:avLst/>
          </a:prstGeom>
          <a:noFill/>
          <a:ln w="6350">
            <a:solidFill>
              <a:srgbClr val="30363D"/>
            </a:solidFill>
            <a:prstDash val="solid"/>
          </a:ln>
        </p:spPr>
      </p:sp>
      <p:sp>
        <p:nvSpPr>
          <p:cNvPr id="9" name="Text 7"/>
          <p:cNvSpPr/>
          <p:nvPr/>
        </p:nvSpPr>
        <p:spPr>
          <a:xfrm>
            <a:off x="320040" y="1234440"/>
            <a:ext cx="2468880" cy="100584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Kali Linux VM
</a:t>
            </a:r>
            <a:pPr indent="0" marL="0">
              <a:buNone/>
            </a:pPr>
            <a:r>
              <a:rPr lang="en-US" sz="950" dirty="0">
                <a:solidFill>
                  <a:srgbClr val="C9D1D9"/>
                </a:solidFill>
                <a:latin typeface="Calibri" pitchFamily="34" charset="0"/>
                <a:ea typeface="Calibri" pitchFamily="34" charset="-122"/>
                <a:cs typeface="Calibri" pitchFamily="34" charset="-120"/>
              </a:rPr>
              <a:t>eth0: 192.168.1.9
</a:t>
            </a:r>
            <a:pPr indent="0" marL="0">
              <a:buNone/>
            </a:pPr>
            <a:r>
              <a:rPr lang="en-US" sz="950" dirty="0">
                <a:solidFill>
                  <a:srgbClr val="C9D1D9"/>
                </a:solidFill>
                <a:latin typeface="Calibri" pitchFamily="34" charset="0"/>
                <a:ea typeface="Calibri" pitchFamily="34" charset="-122"/>
                <a:cs typeface="Calibri" pitchFamily="34" charset="-120"/>
              </a:rPr>
              <a:t>Tools: nmap, curl, browser</a:t>
            </a:r>
            <a:endParaRPr lang="en-US" sz="950" dirty="0"/>
          </a:p>
        </p:txBody>
      </p:sp>
      <p:sp>
        <p:nvSpPr>
          <p:cNvPr id="10" name="Shape 8"/>
          <p:cNvSpPr/>
          <p:nvPr/>
        </p:nvSpPr>
        <p:spPr>
          <a:xfrm>
            <a:off x="2834640" y="1600200"/>
            <a:ext cx="1005840" cy="0"/>
          </a:xfrm>
          <a:prstGeom prst="line">
            <a:avLst/>
          </a:prstGeom>
          <a:noFill/>
          <a:ln w="25400">
            <a:solidFill>
              <a:srgbClr val="00D4AA"/>
            </a:solidFill>
            <a:prstDash val="solid"/>
          </a:ln>
        </p:spPr>
      </p:sp>
      <p:sp>
        <p:nvSpPr>
          <p:cNvPr id="11" name="Text 9"/>
          <p:cNvSpPr/>
          <p:nvPr/>
        </p:nvSpPr>
        <p:spPr>
          <a:xfrm>
            <a:off x="3657600" y="1463040"/>
            <a:ext cx="274320" cy="274320"/>
          </a:xfrm>
          <a:prstGeom prst="rect">
            <a:avLst/>
          </a:prstGeom>
          <a:noFill/>
          <a:ln/>
        </p:spPr>
        <p:txBody>
          <a:bodyPr wrap="square" lIns="0" tIns="0" rIns="0" bIns="0" rtlCol="0" anchor="ctr"/>
          <a:lstStyle/>
          <a:p>
            <a:pPr indent="0" marL="0">
              <a:buNone/>
            </a:pPr>
            <a:r>
              <a:rPr lang="en-US" sz="1400" dirty="0">
                <a:solidFill>
                  <a:srgbClr val="00D4AA"/>
                </a:solidFill>
              </a:rPr>
              <a:t>→</a:t>
            </a:r>
            <a:endParaRPr lang="en-US" sz="1400" dirty="0"/>
          </a:p>
        </p:txBody>
      </p:sp>
      <p:sp>
        <p:nvSpPr>
          <p:cNvPr id="12" name="Text 10"/>
          <p:cNvSpPr/>
          <p:nvPr/>
        </p:nvSpPr>
        <p:spPr>
          <a:xfrm>
            <a:off x="3017520" y="1371600"/>
            <a:ext cx="640080" cy="228600"/>
          </a:xfrm>
          <a:prstGeom prst="rect">
            <a:avLst/>
          </a:prstGeom>
          <a:noFill/>
          <a:ln/>
        </p:spPr>
        <p:txBody>
          <a:bodyPr wrap="square" lIns="0" tIns="0" rIns="0" bIns="0" rtlCol="0" anchor="ctr"/>
          <a:lstStyle/>
          <a:p>
            <a:pPr algn="ctr" indent="0" marL="0">
              <a:buNone/>
            </a:pPr>
            <a:r>
              <a:rPr lang="en-US" sz="800" dirty="0">
                <a:solidFill>
                  <a:srgbClr val="8B949E"/>
                </a:solidFill>
                <a:latin typeface="Consolas" pitchFamily="34" charset="0"/>
                <a:ea typeface="Consolas" pitchFamily="34" charset="-122"/>
                <a:cs typeface="Consolas" pitchFamily="34" charset="-120"/>
              </a:rPr>
              <a:t>LAN</a:t>
            </a:r>
            <a:endParaRPr lang="en-US" sz="800" dirty="0"/>
          </a:p>
        </p:txBody>
      </p:sp>
      <p:sp>
        <p:nvSpPr>
          <p:cNvPr id="13" name="Shape 11"/>
          <p:cNvSpPr/>
          <p:nvPr/>
        </p:nvSpPr>
        <p:spPr>
          <a:xfrm>
            <a:off x="3931920" y="914400"/>
            <a:ext cx="2560320" cy="1371600"/>
          </a:xfrm>
          <a:prstGeom prst="rect">
            <a:avLst/>
          </a:prstGeom>
          <a:solidFill>
            <a:srgbClr val="1C2333"/>
          </a:solidFill>
          <a:ln w="19050">
            <a:solidFill>
              <a:srgbClr val="4FC3F7"/>
            </a:solidFill>
            <a:prstDash val="solid"/>
          </a:ln>
        </p:spPr>
      </p:sp>
      <p:sp>
        <p:nvSpPr>
          <p:cNvPr id="14" name="Text 12"/>
          <p:cNvSpPr/>
          <p:nvPr/>
        </p:nvSpPr>
        <p:spPr>
          <a:xfrm>
            <a:off x="3931920" y="914400"/>
            <a:ext cx="2560320" cy="274320"/>
          </a:xfrm>
          <a:prstGeom prst="rect">
            <a:avLst/>
          </a:prstGeom>
          <a:noFill/>
          <a:ln/>
        </p:spPr>
        <p:txBody>
          <a:bodyPr wrap="square" lIns="0" tIns="0" rIns="0" bIns="0" rtlCol="0" anchor="ctr"/>
          <a:lstStyle/>
          <a:p>
            <a:pPr algn="ctr" indent="0" marL="0">
              <a:buNone/>
            </a:pPr>
            <a:r>
              <a:rPr lang="en-US" sz="800" b="1" dirty="0">
                <a:solidFill>
                  <a:srgbClr val="4FC3F7"/>
                </a:solidFill>
                <a:latin typeface="Consolas" pitchFamily="34" charset="0"/>
                <a:ea typeface="Consolas" pitchFamily="34" charset="-122"/>
                <a:cs typeface="Consolas" pitchFamily="34" charset="-120"/>
              </a:rPr>
              <a:t>TARGET</a:t>
            </a:r>
            <a:endParaRPr lang="en-US" sz="800" dirty="0"/>
          </a:p>
        </p:txBody>
      </p:sp>
      <p:sp>
        <p:nvSpPr>
          <p:cNvPr id="15" name="Shape 13"/>
          <p:cNvSpPr/>
          <p:nvPr/>
        </p:nvSpPr>
        <p:spPr>
          <a:xfrm>
            <a:off x="3931920" y="1188720"/>
            <a:ext cx="2560320" cy="0"/>
          </a:xfrm>
          <a:prstGeom prst="line">
            <a:avLst/>
          </a:prstGeom>
          <a:noFill/>
          <a:ln w="6350">
            <a:solidFill>
              <a:srgbClr val="30363D"/>
            </a:solidFill>
            <a:prstDash val="solid"/>
          </a:ln>
        </p:spPr>
      </p:sp>
      <p:sp>
        <p:nvSpPr>
          <p:cNvPr id="16" name="Text 14"/>
          <p:cNvSpPr/>
          <p:nvPr/>
        </p:nvSpPr>
        <p:spPr>
          <a:xfrm>
            <a:off x="3977640" y="1234440"/>
            <a:ext cx="2468880" cy="100584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Windows Host
</a:t>
            </a:r>
            <a:pPr indent="0" marL="0">
              <a:buNone/>
            </a:pPr>
            <a:r>
              <a:rPr lang="en-US" sz="950" dirty="0">
                <a:solidFill>
                  <a:srgbClr val="C9D1D9"/>
                </a:solidFill>
                <a:latin typeface="Calibri" pitchFamily="34" charset="0"/>
                <a:ea typeface="Calibri" pitchFamily="34" charset="-122"/>
                <a:cs typeface="Calibri" pitchFamily="34" charset="-120"/>
              </a:rPr>
              <a:t>Host IP: 192.168.1.7
</a:t>
            </a:r>
            <a:pPr indent="0" marL="0">
              <a:buNone/>
            </a:pPr>
            <a:r>
              <a:rPr lang="en-US" sz="950" dirty="0">
                <a:solidFill>
                  <a:srgbClr val="C9D1D9"/>
                </a:solidFill>
                <a:latin typeface="Calibri" pitchFamily="34" charset="0"/>
                <a:ea typeface="Calibri" pitchFamily="34" charset="-122"/>
                <a:cs typeface="Calibri" pitchFamily="34" charset="-120"/>
              </a:rPr>
              <a:t>Docker: bookifyhotel-app</a:t>
            </a:r>
            <a:endParaRPr lang="en-US" sz="950" dirty="0"/>
          </a:p>
        </p:txBody>
      </p:sp>
      <p:sp>
        <p:nvSpPr>
          <p:cNvPr id="17" name="Shape 15"/>
          <p:cNvSpPr/>
          <p:nvPr/>
        </p:nvSpPr>
        <p:spPr>
          <a:xfrm>
            <a:off x="6492240" y="1600200"/>
            <a:ext cx="1005840" cy="0"/>
          </a:xfrm>
          <a:prstGeom prst="line">
            <a:avLst/>
          </a:prstGeom>
          <a:noFill/>
          <a:ln w="25400">
            <a:solidFill>
              <a:srgbClr val="00D4AA"/>
            </a:solidFill>
            <a:prstDash val="solid"/>
          </a:ln>
        </p:spPr>
      </p:sp>
      <p:sp>
        <p:nvSpPr>
          <p:cNvPr id="18" name="Text 16"/>
          <p:cNvSpPr/>
          <p:nvPr/>
        </p:nvSpPr>
        <p:spPr>
          <a:xfrm>
            <a:off x="7315200" y="1463040"/>
            <a:ext cx="274320" cy="274320"/>
          </a:xfrm>
          <a:prstGeom prst="rect">
            <a:avLst/>
          </a:prstGeom>
          <a:noFill/>
          <a:ln/>
        </p:spPr>
        <p:txBody>
          <a:bodyPr wrap="square" lIns="0" tIns="0" rIns="0" bIns="0" rtlCol="0" anchor="ctr"/>
          <a:lstStyle/>
          <a:p>
            <a:pPr indent="0" marL="0">
              <a:buNone/>
            </a:pPr>
            <a:r>
              <a:rPr lang="en-US" sz="1400" dirty="0">
                <a:solidFill>
                  <a:srgbClr val="00D4AA"/>
                </a:solidFill>
              </a:rPr>
              <a:t>→</a:t>
            </a:r>
            <a:endParaRPr lang="en-US" sz="1400" dirty="0"/>
          </a:p>
        </p:txBody>
      </p:sp>
      <p:sp>
        <p:nvSpPr>
          <p:cNvPr id="19" name="Shape 17"/>
          <p:cNvSpPr/>
          <p:nvPr/>
        </p:nvSpPr>
        <p:spPr>
          <a:xfrm>
            <a:off x="7589520" y="914400"/>
            <a:ext cx="1371600" cy="1371600"/>
          </a:xfrm>
          <a:prstGeom prst="rect">
            <a:avLst/>
          </a:prstGeom>
          <a:solidFill>
            <a:srgbClr val="1C2333"/>
          </a:solidFill>
          <a:ln w="19050">
            <a:solidFill>
              <a:srgbClr val="00D4AA"/>
            </a:solidFill>
            <a:prstDash val="solid"/>
          </a:ln>
        </p:spPr>
      </p:sp>
      <p:sp>
        <p:nvSpPr>
          <p:cNvPr id="20" name="Text 18"/>
          <p:cNvSpPr/>
          <p:nvPr/>
        </p:nvSpPr>
        <p:spPr>
          <a:xfrm>
            <a:off x="7589520" y="914400"/>
            <a:ext cx="1371600" cy="274320"/>
          </a:xfrm>
          <a:prstGeom prst="rect">
            <a:avLst/>
          </a:prstGeom>
          <a:noFill/>
          <a:ln/>
        </p:spPr>
        <p:txBody>
          <a:bodyPr wrap="square" lIns="0" tIns="0" rIns="0" bIns="0" rtlCol="0" anchor="ctr"/>
          <a:lstStyle/>
          <a:p>
            <a:pPr algn="ctr" indent="0" marL="0">
              <a:buNone/>
            </a:pPr>
            <a:r>
              <a:rPr lang="en-US" sz="800" b="1" dirty="0">
                <a:solidFill>
                  <a:srgbClr val="00D4AA"/>
                </a:solidFill>
                <a:latin typeface="Consolas" pitchFamily="34" charset="0"/>
                <a:ea typeface="Consolas" pitchFamily="34" charset="-122"/>
                <a:cs typeface="Consolas" pitchFamily="34" charset="-120"/>
              </a:rPr>
              <a:t>APP</a:t>
            </a:r>
            <a:endParaRPr lang="en-US" sz="800" dirty="0"/>
          </a:p>
        </p:txBody>
      </p:sp>
      <p:sp>
        <p:nvSpPr>
          <p:cNvPr id="21" name="Shape 19"/>
          <p:cNvSpPr/>
          <p:nvPr/>
        </p:nvSpPr>
        <p:spPr>
          <a:xfrm>
            <a:off x="7589520" y="1188720"/>
            <a:ext cx="1371600" cy="0"/>
          </a:xfrm>
          <a:prstGeom prst="line">
            <a:avLst/>
          </a:prstGeom>
          <a:noFill/>
          <a:ln w="6350">
            <a:solidFill>
              <a:srgbClr val="30363D"/>
            </a:solidFill>
            <a:prstDash val="solid"/>
          </a:ln>
        </p:spPr>
      </p:sp>
      <p:sp>
        <p:nvSpPr>
          <p:cNvPr id="22" name="Text 20"/>
          <p:cNvSpPr/>
          <p:nvPr/>
        </p:nvSpPr>
        <p:spPr>
          <a:xfrm>
            <a:off x="7635240" y="1234440"/>
            <a:ext cx="1280160" cy="10058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:9000
</a:t>
            </a:r>
            <a:pPr indent="0" marL="0">
              <a:buNone/>
            </a:pPr>
            <a:r>
              <a:rPr lang="en-US" sz="900" dirty="0">
                <a:solidFill>
                  <a:srgbClr val="C9D1D9"/>
                </a:solidFill>
                <a:latin typeface="Calibri" pitchFamily="34" charset="0"/>
                <a:ea typeface="Calibri" pitchFamily="34" charset="-122"/>
                <a:cs typeface="Calibri" pitchFamily="34" charset="-120"/>
              </a:rPr>
              <a:t>.NET</a:t>
            </a:r>
            <a:endParaRPr lang="en-US" sz="900" dirty="0"/>
          </a:p>
          <a:p>
            <a:pPr indent="0" marL="0">
              <a:buNone/>
            </a:pPr>
            <a:r>
              <a:rPr lang="en-US" sz="900" dirty="0">
                <a:solidFill>
                  <a:srgbClr val="C9D1D9"/>
                </a:solidFill>
                <a:latin typeface="Calibri" pitchFamily="34" charset="0"/>
                <a:ea typeface="Calibri" pitchFamily="34" charset="-122"/>
                <a:cs typeface="Calibri" pitchFamily="34" charset="-120"/>
              </a:rPr>
              <a:t>Docker</a:t>
            </a:r>
            <a:endParaRPr lang="en-US" sz="900" dirty="0"/>
          </a:p>
        </p:txBody>
      </p:sp>
      <p:sp>
        <p:nvSpPr>
          <p:cNvPr id="23" name="Text 21"/>
          <p:cNvSpPr/>
          <p:nvPr/>
        </p:nvSpPr>
        <p:spPr>
          <a:xfrm>
            <a:off x="274320" y="2468880"/>
            <a:ext cx="8595360" cy="274320"/>
          </a:xfrm>
          <a:prstGeom prst="rect">
            <a:avLst/>
          </a:prstGeom>
          <a:noFill/>
          <a:ln/>
        </p:spPr>
        <p:txBody>
          <a:bodyPr wrap="square" lIns="0" tIns="0" rIns="0" bIns="0" rtlCol="0" anchor="ctr"/>
          <a:lstStyle/>
          <a:p>
            <a:pPr indent="0" marL="0">
              <a:buNone/>
            </a:pPr>
            <a:r>
              <a:rPr lang="en-US" sz="900" b="1" spc="300" kern="0" dirty="0">
                <a:solidFill>
                  <a:srgbClr val="00D4AA"/>
                </a:solidFill>
                <a:latin typeface="Consolas" pitchFamily="34" charset="0"/>
                <a:ea typeface="Consolas" pitchFamily="34" charset="-122"/>
                <a:cs typeface="Consolas" pitchFamily="34" charset="-120"/>
              </a:rPr>
              <a:t>ENVIRONMENT DETAILS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2788920"/>
          <a:ext cx="8595360" cy="2194560"/>
        </p:xfrm>
        <a:graphic>
          <a:graphicData uri="http://schemas.openxmlformats.org/drawingml/2006/table">
            <a:tbl>
              <a:tblPr/>
              <a:tblGrid>
                <a:gridCol w="2286000"/>
                <a:gridCol w="6309360"/>
              </a:tblGrid>
              <a:tr h="274320">
                <a:tc>
                  <a:txBody>
                    <a:bodyPr/>
                    <a:lstStyle/>
                    <a:p>
                      <a:pPr indent="0" marL="0">
                        <a:buNone/>
                      </a:pPr>
                      <a:r>
                        <a:rPr lang="en-US" sz="950" b="1" dirty="0">
                          <a:solidFill>
                            <a:srgbClr val="00D4AA"/>
                          </a:solidFill>
                          <a:latin typeface="Calibri" pitchFamily="34" charset="0"/>
                          <a:ea typeface="Calibri" pitchFamily="34" charset="-122"/>
                          <a:cs typeface="Calibri" pitchFamily="34" charset="-120"/>
                        </a:rPr>
                        <a:t>Component</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indent="0" marL="0">
                        <a:buNone/>
                      </a:pPr>
                      <a:r>
                        <a:rPr lang="en-US" sz="950" b="1" dirty="0">
                          <a:solidFill>
                            <a:srgbClr val="00D4AA"/>
                          </a:solidFill>
                          <a:latin typeface="Calibri" pitchFamily="34" charset="0"/>
                          <a:ea typeface="Calibri" pitchFamily="34" charset="-122"/>
                          <a:cs typeface="Calibri" pitchFamily="34" charset="-120"/>
                        </a:rPr>
                        <a:t>Details</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r>
              <a:tr h="274320">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Target Application</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Bookify Hotel — Luxury Hotel Booking Platform</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r>
              <a:tr h="274320">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Technology Stack</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.NET (HotelEcomm.dll) running in Docker container</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r>
              <a:tr h="274320">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Container Status</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Healthy | PID 88994 | Started 2026-05-02T13:13:36</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r>
              <a:tr h="274320">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Target IP / Port</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192.168.1.7:9000 (HTTP — unencrypted)</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r>
              <a:tr h="274320">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Attacker Machine</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Kali Linux VM — IP 192.168.1.9 (VirtualBox bridged)</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r>
              <a:tr h="274320">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Secondary Port</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192.168.1.7:8080 — open, connection hangs (no response)</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r>
              <a:tr h="274320">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Testing Tools</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indent="0" marL="0">
                        <a:buNone/>
                      </a:pPr>
                      <a:r>
                        <a:rPr lang="en-US" sz="950" dirty="0">
                          <a:solidFill>
                            <a:srgbClr val="C9D1D9"/>
                          </a:solidFill>
                          <a:latin typeface="Calibri" pitchFamily="34" charset="0"/>
                          <a:ea typeface="Calibri" pitchFamily="34" charset="-122"/>
                          <a:cs typeface="Calibri" pitchFamily="34" charset="-120"/>
                        </a:rPr>
                        <a:t>nmap, curl, Firefox, docker inspect</a:t>
                      </a:r>
                      <a:endParaRPr lang="en-US" sz="950" dirty="0">
                        <a:latin typeface="Calibri" charset="0"/>
                        <a:ea typeface="Calibri" charset="0"/>
                        <a:cs typeface="Calibri"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AA"/>
          </a:solidFill>
          <a:ln/>
        </p:spPr>
      </p:sp>
      <p:sp>
        <p:nvSpPr>
          <p:cNvPr id="3" name="Shape 1"/>
          <p:cNvSpPr/>
          <p:nvPr/>
        </p:nvSpPr>
        <p:spPr>
          <a:xfrm>
            <a:off x="0" y="0"/>
            <a:ext cx="54864" cy="5143500"/>
          </a:xfrm>
          <a:prstGeom prst="rect">
            <a:avLst/>
          </a:prstGeom>
          <a:solidFill>
            <a:srgbClr val="00D4AA"/>
          </a:solidFill>
          <a:ln/>
        </p:spPr>
      </p:sp>
      <p:sp>
        <p:nvSpPr>
          <p:cNvPr id="4" name="Text 2"/>
          <p:cNvSpPr/>
          <p:nvPr/>
        </p:nvSpPr>
        <p:spPr>
          <a:xfrm>
            <a:off x="274320" y="182880"/>
            <a:ext cx="859536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Security Findings</a:t>
            </a:r>
            <a:endParaRPr lang="en-US" sz="2400" dirty="0"/>
          </a:p>
        </p:txBody>
      </p:sp>
      <p:sp>
        <p:nvSpPr>
          <p:cNvPr id="5" name="Shape 3"/>
          <p:cNvSpPr/>
          <p:nvPr/>
        </p:nvSpPr>
        <p:spPr>
          <a:xfrm>
            <a:off x="274320" y="713232"/>
            <a:ext cx="8412480" cy="0"/>
          </a:xfrm>
          <a:prstGeom prst="line">
            <a:avLst/>
          </a:prstGeom>
          <a:noFill/>
          <a:ln w="10160">
            <a:solidFill>
              <a:srgbClr val="30363D"/>
            </a:solidFill>
            <a:prstDash val="solid"/>
          </a:ln>
        </p:spPr>
      </p:sp>
      <p:sp>
        <p:nvSpPr>
          <p:cNvPr id="6" name="Shape 4"/>
          <p:cNvSpPr/>
          <p:nvPr/>
        </p:nvSpPr>
        <p:spPr>
          <a:xfrm>
            <a:off x="274320" y="841248"/>
            <a:ext cx="8595360" cy="749808"/>
          </a:xfrm>
          <a:prstGeom prst="rect">
            <a:avLst/>
          </a:prstGeom>
          <a:solidFill>
            <a:srgbClr val="1C2333"/>
          </a:solidFill>
          <a:ln w="6350">
            <a:solidFill>
              <a:srgbClr val="30363D"/>
            </a:solidFill>
            <a:prstDash val="solid"/>
          </a:ln>
        </p:spPr>
      </p:sp>
      <p:sp>
        <p:nvSpPr>
          <p:cNvPr id="7" name="Shape 5"/>
          <p:cNvSpPr/>
          <p:nvPr/>
        </p:nvSpPr>
        <p:spPr>
          <a:xfrm>
            <a:off x="274320" y="841248"/>
            <a:ext cx="54864" cy="749808"/>
          </a:xfrm>
          <a:prstGeom prst="rect">
            <a:avLst/>
          </a:prstGeom>
          <a:solidFill>
            <a:srgbClr val="FF4444"/>
          </a:solidFill>
          <a:ln/>
        </p:spPr>
      </p:sp>
      <p:sp>
        <p:nvSpPr>
          <p:cNvPr id="8" name="Shape 6"/>
          <p:cNvSpPr/>
          <p:nvPr/>
        </p:nvSpPr>
        <p:spPr>
          <a:xfrm>
            <a:off x="457200" y="914400"/>
            <a:ext cx="822960" cy="201168"/>
          </a:xfrm>
          <a:prstGeom prst="rect">
            <a:avLst/>
          </a:prstGeom>
          <a:solidFill>
            <a:srgbClr val="FF4444"/>
          </a:solidFill>
          <a:ln/>
        </p:spPr>
      </p:sp>
      <p:sp>
        <p:nvSpPr>
          <p:cNvPr id="9" name="Text 7"/>
          <p:cNvSpPr/>
          <p:nvPr/>
        </p:nvSpPr>
        <p:spPr>
          <a:xfrm>
            <a:off x="457200" y="914400"/>
            <a:ext cx="822960" cy="201168"/>
          </a:xfrm>
          <a:prstGeom prst="rect">
            <a:avLst/>
          </a:prstGeom>
          <a:noFill/>
          <a:ln/>
        </p:spPr>
        <p:txBody>
          <a:bodyPr wrap="square" lIns="0" tIns="0" rIns="0" bIns="0" rtlCol="0" anchor="ctr"/>
          <a:lstStyle/>
          <a:p>
            <a:pPr algn="ctr" indent="0" marL="0">
              <a:buNone/>
            </a:pPr>
            <a:r>
              <a:rPr lang="en-US" sz="650" b="1" dirty="0">
                <a:solidFill>
                  <a:srgbClr val="0D1117"/>
                </a:solidFill>
                <a:latin typeface="Consolas" pitchFamily="34" charset="0"/>
                <a:ea typeface="Consolas" pitchFamily="34" charset="-122"/>
                <a:cs typeface="Consolas" pitchFamily="34" charset="-120"/>
              </a:rPr>
              <a:t>CRITICAL</a:t>
            </a:r>
            <a:endParaRPr lang="en-US" sz="650" dirty="0"/>
          </a:p>
        </p:txBody>
      </p:sp>
      <p:sp>
        <p:nvSpPr>
          <p:cNvPr id="10" name="Text 8"/>
          <p:cNvSpPr/>
          <p:nvPr/>
        </p:nvSpPr>
        <p:spPr>
          <a:xfrm>
            <a:off x="1325880" y="914400"/>
            <a:ext cx="457200" cy="201168"/>
          </a:xfrm>
          <a:prstGeom prst="rect">
            <a:avLst/>
          </a:prstGeom>
          <a:noFill/>
          <a:ln/>
        </p:spPr>
        <p:txBody>
          <a:bodyPr wrap="square" lIns="0" tIns="0" rIns="0" bIns="0" rtlCol="0" anchor="ctr"/>
          <a:lstStyle/>
          <a:p>
            <a:pPr indent="0" marL="0">
              <a:buNone/>
            </a:pPr>
            <a:r>
              <a:rPr lang="en-US" sz="800" b="1" dirty="0">
                <a:solidFill>
                  <a:srgbClr val="8B949E"/>
                </a:solidFill>
                <a:latin typeface="Consolas" pitchFamily="34" charset="0"/>
                <a:ea typeface="Consolas" pitchFamily="34" charset="-122"/>
                <a:cs typeface="Consolas" pitchFamily="34" charset="-120"/>
              </a:rPr>
              <a:t>F-01</a:t>
            </a:r>
            <a:endParaRPr lang="en-US" sz="800" dirty="0"/>
          </a:p>
        </p:txBody>
      </p:sp>
      <p:sp>
        <p:nvSpPr>
          <p:cNvPr id="11" name="Text 9"/>
          <p:cNvSpPr/>
          <p:nvPr/>
        </p:nvSpPr>
        <p:spPr>
          <a:xfrm>
            <a:off x="457200" y="1133856"/>
            <a:ext cx="502920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Application Accessible Over Plain HTTP</a:t>
            </a:r>
            <a:endParaRPr lang="en-US" sz="1050" dirty="0"/>
          </a:p>
        </p:txBody>
      </p:sp>
      <p:sp>
        <p:nvSpPr>
          <p:cNvPr id="12" name="Text 10"/>
          <p:cNvSpPr/>
          <p:nvPr/>
        </p:nvSpPr>
        <p:spPr>
          <a:xfrm>
            <a:off x="457200" y="1353312"/>
            <a:ext cx="4937760" cy="201168"/>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The Bookify Hotel application is served entirely over HTTP (port 9000) with no TLS/SSL. All traffic including login credentials, session tokens, and payment data is transmitted in cleartext and is interceptable via MITM attacks.</a:t>
            </a:r>
            <a:endParaRPr lang="en-US" sz="750" dirty="0"/>
          </a:p>
        </p:txBody>
      </p:sp>
      <p:sp>
        <p:nvSpPr>
          <p:cNvPr id="13" name="Text 11"/>
          <p:cNvSpPr/>
          <p:nvPr/>
        </p:nvSpPr>
        <p:spPr>
          <a:xfrm>
            <a:off x="5577840" y="914400"/>
            <a:ext cx="640080" cy="164592"/>
          </a:xfrm>
          <a:prstGeom prst="rect">
            <a:avLst/>
          </a:prstGeom>
          <a:noFill/>
          <a:ln/>
        </p:spPr>
        <p:txBody>
          <a:bodyPr wrap="square" lIns="0" tIns="0" rIns="0" bIns="0" rtlCol="0" anchor="ctr"/>
          <a:lstStyle/>
          <a:p>
            <a:pPr indent="0" marL="0">
              <a:buNone/>
            </a:pPr>
            <a:r>
              <a:rPr lang="en-US" sz="700" b="1" dirty="0">
                <a:solidFill>
                  <a:srgbClr val="00D4AA"/>
                </a:solidFill>
                <a:latin typeface="Consolas" pitchFamily="34" charset="0"/>
                <a:ea typeface="Consolas" pitchFamily="34" charset="-122"/>
                <a:cs typeface="Consolas" pitchFamily="34" charset="-120"/>
              </a:rPr>
              <a:t>Evidence: </a:t>
            </a:r>
            <a:endParaRPr lang="en-US" sz="700" dirty="0"/>
          </a:p>
        </p:txBody>
      </p:sp>
      <p:sp>
        <p:nvSpPr>
          <p:cNvPr id="14" name="Text 12"/>
          <p:cNvSpPr/>
          <p:nvPr/>
        </p:nvSpPr>
        <p:spPr>
          <a:xfrm>
            <a:off x="5577840" y="1078992"/>
            <a:ext cx="3200400" cy="457200"/>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Browser address bar shows 'Not Secure' | http://192.168.1.7:9000</a:t>
            </a:r>
            <a:endParaRPr lang="en-US" sz="750" dirty="0"/>
          </a:p>
        </p:txBody>
      </p:sp>
      <p:sp>
        <p:nvSpPr>
          <p:cNvPr id="15" name="Shape 13"/>
          <p:cNvSpPr/>
          <p:nvPr/>
        </p:nvSpPr>
        <p:spPr>
          <a:xfrm>
            <a:off x="274320" y="1682496"/>
            <a:ext cx="8595360" cy="749808"/>
          </a:xfrm>
          <a:prstGeom prst="rect">
            <a:avLst/>
          </a:prstGeom>
          <a:solidFill>
            <a:srgbClr val="1C2333"/>
          </a:solidFill>
          <a:ln w="6350">
            <a:solidFill>
              <a:srgbClr val="30363D"/>
            </a:solidFill>
            <a:prstDash val="solid"/>
          </a:ln>
        </p:spPr>
      </p:sp>
      <p:sp>
        <p:nvSpPr>
          <p:cNvPr id="16" name="Shape 14"/>
          <p:cNvSpPr/>
          <p:nvPr/>
        </p:nvSpPr>
        <p:spPr>
          <a:xfrm>
            <a:off x="274320" y="1682496"/>
            <a:ext cx="54864" cy="749808"/>
          </a:xfrm>
          <a:prstGeom prst="rect">
            <a:avLst/>
          </a:prstGeom>
          <a:solidFill>
            <a:srgbClr val="FF4444"/>
          </a:solidFill>
          <a:ln/>
        </p:spPr>
      </p:sp>
      <p:sp>
        <p:nvSpPr>
          <p:cNvPr id="17" name="Shape 15"/>
          <p:cNvSpPr/>
          <p:nvPr/>
        </p:nvSpPr>
        <p:spPr>
          <a:xfrm>
            <a:off x="457200" y="1755648"/>
            <a:ext cx="822960" cy="201168"/>
          </a:xfrm>
          <a:prstGeom prst="rect">
            <a:avLst/>
          </a:prstGeom>
          <a:solidFill>
            <a:srgbClr val="FF4444"/>
          </a:solidFill>
          <a:ln/>
        </p:spPr>
      </p:sp>
      <p:sp>
        <p:nvSpPr>
          <p:cNvPr id="18" name="Text 16"/>
          <p:cNvSpPr/>
          <p:nvPr/>
        </p:nvSpPr>
        <p:spPr>
          <a:xfrm>
            <a:off x="457200" y="1755648"/>
            <a:ext cx="822960" cy="201168"/>
          </a:xfrm>
          <a:prstGeom prst="rect">
            <a:avLst/>
          </a:prstGeom>
          <a:noFill/>
          <a:ln/>
        </p:spPr>
        <p:txBody>
          <a:bodyPr wrap="square" lIns="0" tIns="0" rIns="0" bIns="0" rtlCol="0" anchor="ctr"/>
          <a:lstStyle/>
          <a:p>
            <a:pPr algn="ctr" indent="0" marL="0">
              <a:buNone/>
            </a:pPr>
            <a:r>
              <a:rPr lang="en-US" sz="650" b="1" dirty="0">
                <a:solidFill>
                  <a:srgbClr val="0D1117"/>
                </a:solidFill>
                <a:latin typeface="Consolas" pitchFamily="34" charset="0"/>
                <a:ea typeface="Consolas" pitchFamily="34" charset="-122"/>
                <a:cs typeface="Consolas" pitchFamily="34" charset="-120"/>
              </a:rPr>
              <a:t>CRITICAL</a:t>
            </a:r>
            <a:endParaRPr lang="en-US" sz="650" dirty="0"/>
          </a:p>
        </p:txBody>
      </p:sp>
      <p:sp>
        <p:nvSpPr>
          <p:cNvPr id="19" name="Text 17"/>
          <p:cNvSpPr/>
          <p:nvPr/>
        </p:nvSpPr>
        <p:spPr>
          <a:xfrm>
            <a:off x="1325880" y="1755648"/>
            <a:ext cx="457200" cy="201168"/>
          </a:xfrm>
          <a:prstGeom prst="rect">
            <a:avLst/>
          </a:prstGeom>
          <a:noFill/>
          <a:ln/>
        </p:spPr>
        <p:txBody>
          <a:bodyPr wrap="square" lIns="0" tIns="0" rIns="0" bIns="0" rtlCol="0" anchor="ctr"/>
          <a:lstStyle/>
          <a:p>
            <a:pPr indent="0" marL="0">
              <a:buNone/>
            </a:pPr>
            <a:r>
              <a:rPr lang="en-US" sz="800" b="1" dirty="0">
                <a:solidFill>
                  <a:srgbClr val="8B949E"/>
                </a:solidFill>
                <a:latin typeface="Consolas" pitchFamily="34" charset="0"/>
                <a:ea typeface="Consolas" pitchFamily="34" charset="-122"/>
                <a:cs typeface="Consolas" pitchFamily="34" charset="-120"/>
              </a:rPr>
              <a:t>F-02</a:t>
            </a:r>
            <a:endParaRPr lang="en-US" sz="800" dirty="0"/>
          </a:p>
        </p:txBody>
      </p:sp>
      <p:sp>
        <p:nvSpPr>
          <p:cNvPr id="20" name="Text 18"/>
          <p:cNvSpPr/>
          <p:nvPr/>
        </p:nvSpPr>
        <p:spPr>
          <a:xfrm>
            <a:off x="457200" y="1975104"/>
            <a:ext cx="502920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Docker Container Port Directly Exposed — No WAF</a:t>
            </a:r>
            <a:endParaRPr lang="en-US" sz="1050" dirty="0"/>
          </a:p>
        </p:txBody>
      </p:sp>
      <p:sp>
        <p:nvSpPr>
          <p:cNvPr id="21" name="Text 19"/>
          <p:cNvSpPr/>
          <p:nvPr/>
        </p:nvSpPr>
        <p:spPr>
          <a:xfrm>
            <a:off x="457200" y="2194560"/>
            <a:ext cx="4937760" cy="201168"/>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Port 9000 is directly exposed from the Docker container to the host network with no reverse proxy, Web Application Firewall, or rate limiting in place. This allows unrestricted access to the application.</a:t>
            </a:r>
            <a:endParaRPr lang="en-US" sz="750" dirty="0"/>
          </a:p>
        </p:txBody>
      </p:sp>
      <p:sp>
        <p:nvSpPr>
          <p:cNvPr id="22" name="Text 20"/>
          <p:cNvSpPr/>
          <p:nvPr/>
        </p:nvSpPr>
        <p:spPr>
          <a:xfrm>
            <a:off x="5577840" y="1755648"/>
            <a:ext cx="640080" cy="164592"/>
          </a:xfrm>
          <a:prstGeom prst="rect">
            <a:avLst/>
          </a:prstGeom>
          <a:noFill/>
          <a:ln/>
        </p:spPr>
        <p:txBody>
          <a:bodyPr wrap="square" lIns="0" tIns="0" rIns="0" bIns="0" rtlCol="0" anchor="ctr"/>
          <a:lstStyle/>
          <a:p>
            <a:pPr indent="0" marL="0">
              <a:buNone/>
            </a:pPr>
            <a:r>
              <a:rPr lang="en-US" sz="700" b="1" dirty="0">
                <a:solidFill>
                  <a:srgbClr val="00D4AA"/>
                </a:solidFill>
                <a:latin typeface="Consolas" pitchFamily="34" charset="0"/>
                <a:ea typeface="Consolas" pitchFamily="34" charset="-122"/>
                <a:cs typeface="Consolas" pitchFamily="34" charset="-120"/>
              </a:rPr>
              <a:t>Evidence: </a:t>
            </a:r>
            <a:endParaRPr lang="en-US" sz="700" dirty="0"/>
          </a:p>
        </p:txBody>
      </p:sp>
      <p:sp>
        <p:nvSpPr>
          <p:cNvPr id="23" name="Text 21"/>
          <p:cNvSpPr/>
          <p:nvPr/>
        </p:nvSpPr>
        <p:spPr>
          <a:xfrm>
            <a:off x="5577840" y="1920240"/>
            <a:ext cx="3200400" cy="457200"/>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docker inspect confirms port mapping | nmap scan confirms open port</a:t>
            </a:r>
            <a:endParaRPr lang="en-US" sz="750" dirty="0"/>
          </a:p>
        </p:txBody>
      </p:sp>
      <p:sp>
        <p:nvSpPr>
          <p:cNvPr id="24" name="Shape 22"/>
          <p:cNvSpPr/>
          <p:nvPr/>
        </p:nvSpPr>
        <p:spPr>
          <a:xfrm>
            <a:off x="274320" y="2523744"/>
            <a:ext cx="8595360" cy="749808"/>
          </a:xfrm>
          <a:prstGeom prst="rect">
            <a:avLst/>
          </a:prstGeom>
          <a:solidFill>
            <a:srgbClr val="1C2333"/>
          </a:solidFill>
          <a:ln w="6350">
            <a:solidFill>
              <a:srgbClr val="30363D"/>
            </a:solidFill>
            <a:prstDash val="solid"/>
          </a:ln>
        </p:spPr>
      </p:sp>
      <p:sp>
        <p:nvSpPr>
          <p:cNvPr id="25" name="Shape 23"/>
          <p:cNvSpPr/>
          <p:nvPr/>
        </p:nvSpPr>
        <p:spPr>
          <a:xfrm>
            <a:off x="274320" y="2523744"/>
            <a:ext cx="54864" cy="749808"/>
          </a:xfrm>
          <a:prstGeom prst="rect">
            <a:avLst/>
          </a:prstGeom>
          <a:solidFill>
            <a:srgbClr val="FF8C00"/>
          </a:solidFill>
          <a:ln/>
        </p:spPr>
      </p:sp>
      <p:sp>
        <p:nvSpPr>
          <p:cNvPr id="26" name="Shape 24"/>
          <p:cNvSpPr/>
          <p:nvPr/>
        </p:nvSpPr>
        <p:spPr>
          <a:xfrm>
            <a:off x="457200" y="2596896"/>
            <a:ext cx="822960" cy="201168"/>
          </a:xfrm>
          <a:prstGeom prst="rect">
            <a:avLst/>
          </a:prstGeom>
          <a:solidFill>
            <a:srgbClr val="FF8C00"/>
          </a:solidFill>
          <a:ln/>
        </p:spPr>
      </p:sp>
      <p:sp>
        <p:nvSpPr>
          <p:cNvPr id="27" name="Text 25"/>
          <p:cNvSpPr/>
          <p:nvPr/>
        </p:nvSpPr>
        <p:spPr>
          <a:xfrm>
            <a:off x="457200" y="2596896"/>
            <a:ext cx="822960" cy="201168"/>
          </a:xfrm>
          <a:prstGeom prst="rect">
            <a:avLst/>
          </a:prstGeom>
          <a:noFill/>
          <a:ln/>
        </p:spPr>
        <p:txBody>
          <a:bodyPr wrap="square" lIns="0" tIns="0" rIns="0" bIns="0" rtlCol="0" anchor="ctr"/>
          <a:lstStyle/>
          <a:p>
            <a:pPr algn="ctr" indent="0" marL="0">
              <a:buNone/>
            </a:pPr>
            <a:r>
              <a:rPr lang="en-US" sz="650" b="1" dirty="0">
                <a:solidFill>
                  <a:srgbClr val="0D1117"/>
                </a:solidFill>
                <a:latin typeface="Consolas" pitchFamily="34" charset="0"/>
                <a:ea typeface="Consolas" pitchFamily="34" charset="-122"/>
                <a:cs typeface="Consolas" pitchFamily="34" charset="-120"/>
              </a:rPr>
              <a:t>HIGH</a:t>
            </a:r>
            <a:endParaRPr lang="en-US" sz="650" dirty="0"/>
          </a:p>
        </p:txBody>
      </p:sp>
      <p:sp>
        <p:nvSpPr>
          <p:cNvPr id="28" name="Text 26"/>
          <p:cNvSpPr/>
          <p:nvPr/>
        </p:nvSpPr>
        <p:spPr>
          <a:xfrm>
            <a:off x="1325880" y="2596896"/>
            <a:ext cx="457200" cy="201168"/>
          </a:xfrm>
          <a:prstGeom prst="rect">
            <a:avLst/>
          </a:prstGeom>
          <a:noFill/>
          <a:ln/>
        </p:spPr>
        <p:txBody>
          <a:bodyPr wrap="square" lIns="0" tIns="0" rIns="0" bIns="0" rtlCol="0" anchor="ctr"/>
          <a:lstStyle/>
          <a:p>
            <a:pPr indent="0" marL="0">
              <a:buNone/>
            </a:pPr>
            <a:r>
              <a:rPr lang="en-US" sz="800" b="1" dirty="0">
                <a:solidFill>
                  <a:srgbClr val="8B949E"/>
                </a:solidFill>
                <a:latin typeface="Consolas" pitchFamily="34" charset="0"/>
                <a:ea typeface="Consolas" pitchFamily="34" charset="-122"/>
                <a:cs typeface="Consolas" pitchFamily="34" charset="-120"/>
              </a:rPr>
              <a:t>F-03</a:t>
            </a:r>
            <a:endParaRPr lang="en-US" sz="800" dirty="0"/>
          </a:p>
        </p:txBody>
      </p:sp>
      <p:sp>
        <p:nvSpPr>
          <p:cNvPr id="29" name="Text 27"/>
          <p:cNvSpPr/>
          <p:nvPr/>
        </p:nvSpPr>
        <p:spPr>
          <a:xfrm>
            <a:off x="457200" y="2816352"/>
            <a:ext cx="502920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Internal Port 8080 Open and Hanging</a:t>
            </a:r>
            <a:endParaRPr lang="en-US" sz="1050" dirty="0"/>
          </a:p>
        </p:txBody>
      </p:sp>
      <p:sp>
        <p:nvSpPr>
          <p:cNvPr id="30" name="Text 28"/>
          <p:cNvSpPr/>
          <p:nvPr/>
        </p:nvSpPr>
        <p:spPr>
          <a:xfrm>
            <a:off x="457200" y="3035808"/>
            <a:ext cx="4937760" cy="201168"/>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Port 8080 on 192.168.1.7 accepts TCP connections (curl establishes connection) but never returns an HTTP response. This may indicate an internal administrative interface or misconfigured service.</a:t>
            </a:r>
            <a:endParaRPr lang="en-US" sz="750" dirty="0"/>
          </a:p>
        </p:txBody>
      </p:sp>
      <p:sp>
        <p:nvSpPr>
          <p:cNvPr id="31" name="Text 29"/>
          <p:cNvSpPr/>
          <p:nvPr/>
        </p:nvSpPr>
        <p:spPr>
          <a:xfrm>
            <a:off x="5577840" y="2596896"/>
            <a:ext cx="640080" cy="164592"/>
          </a:xfrm>
          <a:prstGeom prst="rect">
            <a:avLst/>
          </a:prstGeom>
          <a:noFill/>
          <a:ln/>
        </p:spPr>
        <p:txBody>
          <a:bodyPr wrap="square" lIns="0" tIns="0" rIns="0" bIns="0" rtlCol="0" anchor="ctr"/>
          <a:lstStyle/>
          <a:p>
            <a:pPr indent="0" marL="0">
              <a:buNone/>
            </a:pPr>
            <a:r>
              <a:rPr lang="en-US" sz="700" b="1" dirty="0">
                <a:solidFill>
                  <a:srgbClr val="00D4AA"/>
                </a:solidFill>
                <a:latin typeface="Consolas" pitchFamily="34" charset="0"/>
                <a:ea typeface="Consolas" pitchFamily="34" charset="-122"/>
                <a:cs typeface="Consolas" pitchFamily="34" charset="-120"/>
              </a:rPr>
              <a:t>Evidence: </a:t>
            </a:r>
            <a:endParaRPr lang="en-US" sz="700" dirty="0"/>
          </a:p>
        </p:txBody>
      </p:sp>
      <p:sp>
        <p:nvSpPr>
          <p:cNvPr id="32" name="Text 30"/>
          <p:cNvSpPr/>
          <p:nvPr/>
        </p:nvSpPr>
        <p:spPr>
          <a:xfrm>
            <a:off x="5577840" y="2761488"/>
            <a:ext cx="3200400" cy="457200"/>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curl -v http://192.168.1.7:8080/ — connection established, request sent, no response</a:t>
            </a:r>
            <a:endParaRPr lang="en-US" sz="750" dirty="0"/>
          </a:p>
        </p:txBody>
      </p:sp>
      <p:sp>
        <p:nvSpPr>
          <p:cNvPr id="33" name="Shape 31"/>
          <p:cNvSpPr/>
          <p:nvPr/>
        </p:nvSpPr>
        <p:spPr>
          <a:xfrm>
            <a:off x="274320" y="3364992"/>
            <a:ext cx="8595360" cy="749808"/>
          </a:xfrm>
          <a:prstGeom prst="rect">
            <a:avLst/>
          </a:prstGeom>
          <a:solidFill>
            <a:srgbClr val="1C2333"/>
          </a:solidFill>
          <a:ln w="6350">
            <a:solidFill>
              <a:srgbClr val="30363D"/>
            </a:solidFill>
            <a:prstDash val="solid"/>
          </a:ln>
        </p:spPr>
      </p:sp>
      <p:sp>
        <p:nvSpPr>
          <p:cNvPr id="34" name="Shape 32"/>
          <p:cNvSpPr/>
          <p:nvPr/>
        </p:nvSpPr>
        <p:spPr>
          <a:xfrm>
            <a:off x="274320" y="3364992"/>
            <a:ext cx="54864" cy="749808"/>
          </a:xfrm>
          <a:prstGeom prst="rect">
            <a:avLst/>
          </a:prstGeom>
          <a:solidFill>
            <a:srgbClr val="FF8C00"/>
          </a:solidFill>
          <a:ln/>
        </p:spPr>
      </p:sp>
      <p:sp>
        <p:nvSpPr>
          <p:cNvPr id="35" name="Shape 33"/>
          <p:cNvSpPr/>
          <p:nvPr/>
        </p:nvSpPr>
        <p:spPr>
          <a:xfrm>
            <a:off x="457200" y="3438144"/>
            <a:ext cx="822960" cy="201168"/>
          </a:xfrm>
          <a:prstGeom prst="rect">
            <a:avLst/>
          </a:prstGeom>
          <a:solidFill>
            <a:srgbClr val="FF8C00"/>
          </a:solidFill>
          <a:ln/>
        </p:spPr>
      </p:sp>
      <p:sp>
        <p:nvSpPr>
          <p:cNvPr id="36" name="Text 34"/>
          <p:cNvSpPr/>
          <p:nvPr/>
        </p:nvSpPr>
        <p:spPr>
          <a:xfrm>
            <a:off x="457200" y="3438144"/>
            <a:ext cx="822960" cy="201168"/>
          </a:xfrm>
          <a:prstGeom prst="rect">
            <a:avLst/>
          </a:prstGeom>
          <a:noFill/>
          <a:ln/>
        </p:spPr>
        <p:txBody>
          <a:bodyPr wrap="square" lIns="0" tIns="0" rIns="0" bIns="0" rtlCol="0" anchor="ctr"/>
          <a:lstStyle/>
          <a:p>
            <a:pPr algn="ctr" indent="0" marL="0">
              <a:buNone/>
            </a:pPr>
            <a:r>
              <a:rPr lang="en-US" sz="650" b="1" dirty="0">
                <a:solidFill>
                  <a:srgbClr val="0D1117"/>
                </a:solidFill>
                <a:latin typeface="Consolas" pitchFamily="34" charset="0"/>
                <a:ea typeface="Consolas" pitchFamily="34" charset="-122"/>
                <a:cs typeface="Consolas" pitchFamily="34" charset="-120"/>
              </a:rPr>
              <a:t>HIGH</a:t>
            </a:r>
            <a:endParaRPr lang="en-US" sz="650" dirty="0"/>
          </a:p>
        </p:txBody>
      </p:sp>
      <p:sp>
        <p:nvSpPr>
          <p:cNvPr id="37" name="Text 35"/>
          <p:cNvSpPr/>
          <p:nvPr/>
        </p:nvSpPr>
        <p:spPr>
          <a:xfrm>
            <a:off x="1325880" y="3438144"/>
            <a:ext cx="457200" cy="201168"/>
          </a:xfrm>
          <a:prstGeom prst="rect">
            <a:avLst/>
          </a:prstGeom>
          <a:noFill/>
          <a:ln/>
        </p:spPr>
        <p:txBody>
          <a:bodyPr wrap="square" lIns="0" tIns="0" rIns="0" bIns="0" rtlCol="0" anchor="ctr"/>
          <a:lstStyle/>
          <a:p>
            <a:pPr indent="0" marL="0">
              <a:buNone/>
            </a:pPr>
            <a:r>
              <a:rPr lang="en-US" sz="800" b="1" dirty="0">
                <a:solidFill>
                  <a:srgbClr val="8B949E"/>
                </a:solidFill>
                <a:latin typeface="Consolas" pitchFamily="34" charset="0"/>
                <a:ea typeface="Consolas" pitchFamily="34" charset="-122"/>
                <a:cs typeface="Consolas" pitchFamily="34" charset="-120"/>
              </a:rPr>
              <a:t>F-04</a:t>
            </a:r>
            <a:endParaRPr lang="en-US" sz="800" dirty="0"/>
          </a:p>
        </p:txBody>
      </p:sp>
      <p:sp>
        <p:nvSpPr>
          <p:cNvPr id="38" name="Text 36"/>
          <p:cNvSpPr/>
          <p:nvPr/>
        </p:nvSpPr>
        <p:spPr>
          <a:xfrm>
            <a:off x="457200" y="3657600"/>
            <a:ext cx="502920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Network Isolation Failure — VM Reaches Host</a:t>
            </a:r>
            <a:endParaRPr lang="en-US" sz="1050" dirty="0"/>
          </a:p>
        </p:txBody>
      </p:sp>
      <p:sp>
        <p:nvSpPr>
          <p:cNvPr id="39" name="Text 37"/>
          <p:cNvSpPr/>
          <p:nvPr/>
        </p:nvSpPr>
        <p:spPr>
          <a:xfrm>
            <a:off x="457200" y="3877056"/>
            <a:ext cx="4937760" cy="201168"/>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The Kali Linux VM running inside VirtualBox is able to reach the host machine at 192.168.1.7. Windows ping from PanDa host to Docker IP (172.18.0.4) times out, suggesting improper routing configuration.</a:t>
            </a:r>
            <a:endParaRPr lang="en-US" sz="750" dirty="0"/>
          </a:p>
        </p:txBody>
      </p:sp>
      <p:sp>
        <p:nvSpPr>
          <p:cNvPr id="40" name="Text 38"/>
          <p:cNvSpPr/>
          <p:nvPr/>
        </p:nvSpPr>
        <p:spPr>
          <a:xfrm>
            <a:off x="5577840" y="3438144"/>
            <a:ext cx="640080" cy="164592"/>
          </a:xfrm>
          <a:prstGeom prst="rect">
            <a:avLst/>
          </a:prstGeom>
          <a:noFill/>
          <a:ln/>
        </p:spPr>
        <p:txBody>
          <a:bodyPr wrap="square" lIns="0" tIns="0" rIns="0" bIns="0" rtlCol="0" anchor="ctr"/>
          <a:lstStyle/>
          <a:p>
            <a:pPr indent="0" marL="0">
              <a:buNone/>
            </a:pPr>
            <a:r>
              <a:rPr lang="en-US" sz="700" b="1" dirty="0">
                <a:solidFill>
                  <a:srgbClr val="00D4AA"/>
                </a:solidFill>
                <a:latin typeface="Consolas" pitchFamily="34" charset="0"/>
                <a:ea typeface="Consolas" pitchFamily="34" charset="-122"/>
                <a:cs typeface="Consolas" pitchFamily="34" charset="-120"/>
              </a:rPr>
              <a:t>Evidence: </a:t>
            </a:r>
            <a:endParaRPr lang="en-US" sz="700" dirty="0"/>
          </a:p>
        </p:txBody>
      </p:sp>
      <p:sp>
        <p:nvSpPr>
          <p:cNvPr id="41" name="Text 39"/>
          <p:cNvSpPr/>
          <p:nvPr/>
        </p:nvSpPr>
        <p:spPr>
          <a:xfrm>
            <a:off x="5577840" y="3602736"/>
            <a:ext cx="3200400" cy="457200"/>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Kali ifconfig: 192.168.1.9 | Windows ping 172.18.0.4: 100% packet loss</a:t>
            </a:r>
            <a:endParaRPr lang="en-US" sz="750" dirty="0"/>
          </a:p>
        </p:txBody>
      </p:sp>
      <p:sp>
        <p:nvSpPr>
          <p:cNvPr id="42" name="Shape 40"/>
          <p:cNvSpPr/>
          <p:nvPr/>
        </p:nvSpPr>
        <p:spPr>
          <a:xfrm>
            <a:off x="274320" y="4206240"/>
            <a:ext cx="8595360" cy="749808"/>
          </a:xfrm>
          <a:prstGeom prst="rect">
            <a:avLst/>
          </a:prstGeom>
          <a:solidFill>
            <a:srgbClr val="1C2333"/>
          </a:solidFill>
          <a:ln w="6350">
            <a:solidFill>
              <a:srgbClr val="30363D"/>
            </a:solidFill>
            <a:prstDash val="solid"/>
          </a:ln>
        </p:spPr>
      </p:sp>
      <p:sp>
        <p:nvSpPr>
          <p:cNvPr id="43" name="Shape 41"/>
          <p:cNvSpPr/>
          <p:nvPr/>
        </p:nvSpPr>
        <p:spPr>
          <a:xfrm>
            <a:off x="274320" y="4206240"/>
            <a:ext cx="54864" cy="749808"/>
          </a:xfrm>
          <a:prstGeom prst="rect">
            <a:avLst/>
          </a:prstGeom>
          <a:solidFill>
            <a:srgbClr val="FFD700"/>
          </a:solidFill>
          <a:ln/>
        </p:spPr>
      </p:sp>
      <p:sp>
        <p:nvSpPr>
          <p:cNvPr id="44" name="Shape 42"/>
          <p:cNvSpPr/>
          <p:nvPr/>
        </p:nvSpPr>
        <p:spPr>
          <a:xfrm>
            <a:off x="457200" y="4279392"/>
            <a:ext cx="822960" cy="201168"/>
          </a:xfrm>
          <a:prstGeom prst="rect">
            <a:avLst/>
          </a:prstGeom>
          <a:solidFill>
            <a:srgbClr val="FFD700"/>
          </a:solidFill>
          <a:ln/>
        </p:spPr>
      </p:sp>
      <p:sp>
        <p:nvSpPr>
          <p:cNvPr id="45" name="Text 43"/>
          <p:cNvSpPr/>
          <p:nvPr/>
        </p:nvSpPr>
        <p:spPr>
          <a:xfrm>
            <a:off x="457200" y="4279392"/>
            <a:ext cx="822960" cy="201168"/>
          </a:xfrm>
          <a:prstGeom prst="rect">
            <a:avLst/>
          </a:prstGeom>
          <a:noFill/>
          <a:ln/>
        </p:spPr>
        <p:txBody>
          <a:bodyPr wrap="square" lIns="0" tIns="0" rIns="0" bIns="0" rtlCol="0" anchor="ctr"/>
          <a:lstStyle/>
          <a:p>
            <a:pPr algn="ctr" indent="0" marL="0">
              <a:buNone/>
            </a:pPr>
            <a:r>
              <a:rPr lang="en-US" sz="650" b="1" dirty="0">
                <a:solidFill>
                  <a:srgbClr val="0D1117"/>
                </a:solidFill>
                <a:latin typeface="Consolas" pitchFamily="34" charset="0"/>
                <a:ea typeface="Consolas" pitchFamily="34" charset="-122"/>
                <a:cs typeface="Consolas" pitchFamily="34" charset="-120"/>
              </a:rPr>
              <a:t>MEDIUM</a:t>
            </a:r>
            <a:endParaRPr lang="en-US" sz="650" dirty="0"/>
          </a:p>
        </p:txBody>
      </p:sp>
      <p:sp>
        <p:nvSpPr>
          <p:cNvPr id="46" name="Text 44"/>
          <p:cNvSpPr/>
          <p:nvPr/>
        </p:nvSpPr>
        <p:spPr>
          <a:xfrm>
            <a:off x="1325880" y="4279392"/>
            <a:ext cx="457200" cy="201168"/>
          </a:xfrm>
          <a:prstGeom prst="rect">
            <a:avLst/>
          </a:prstGeom>
          <a:noFill/>
          <a:ln/>
        </p:spPr>
        <p:txBody>
          <a:bodyPr wrap="square" lIns="0" tIns="0" rIns="0" bIns="0" rtlCol="0" anchor="ctr"/>
          <a:lstStyle/>
          <a:p>
            <a:pPr indent="0" marL="0">
              <a:buNone/>
            </a:pPr>
            <a:r>
              <a:rPr lang="en-US" sz="800" b="1" dirty="0">
                <a:solidFill>
                  <a:srgbClr val="8B949E"/>
                </a:solidFill>
                <a:latin typeface="Consolas" pitchFamily="34" charset="0"/>
                <a:ea typeface="Consolas" pitchFamily="34" charset="-122"/>
                <a:cs typeface="Consolas" pitchFamily="34" charset="-120"/>
              </a:rPr>
              <a:t>F-05</a:t>
            </a:r>
            <a:endParaRPr lang="en-US" sz="800" dirty="0"/>
          </a:p>
        </p:txBody>
      </p:sp>
      <p:sp>
        <p:nvSpPr>
          <p:cNvPr id="47" name="Text 45"/>
          <p:cNvSpPr/>
          <p:nvPr/>
        </p:nvSpPr>
        <p:spPr>
          <a:xfrm>
            <a:off x="457200" y="4498848"/>
            <a:ext cx="502920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Container Health Check Exposes Internal Metrics</a:t>
            </a:r>
            <a:endParaRPr lang="en-US" sz="1050" dirty="0"/>
          </a:p>
        </p:txBody>
      </p:sp>
      <p:sp>
        <p:nvSpPr>
          <p:cNvPr id="48" name="Text 46"/>
          <p:cNvSpPr/>
          <p:nvPr/>
        </p:nvSpPr>
        <p:spPr>
          <a:xfrm>
            <a:off x="457200" y="4718304"/>
            <a:ext cx="4937760" cy="201168"/>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Docker healthcheck logs reveal internal timing and curl-based health probe details. This information can be used by an attacker to infer internal architecture and probe timing.</a:t>
            </a:r>
            <a:endParaRPr lang="en-US" sz="750" dirty="0"/>
          </a:p>
        </p:txBody>
      </p:sp>
      <p:sp>
        <p:nvSpPr>
          <p:cNvPr id="49" name="Text 47"/>
          <p:cNvSpPr/>
          <p:nvPr/>
        </p:nvSpPr>
        <p:spPr>
          <a:xfrm>
            <a:off x="5577840" y="4279392"/>
            <a:ext cx="640080" cy="164592"/>
          </a:xfrm>
          <a:prstGeom prst="rect">
            <a:avLst/>
          </a:prstGeom>
          <a:noFill/>
          <a:ln/>
        </p:spPr>
        <p:txBody>
          <a:bodyPr wrap="square" lIns="0" tIns="0" rIns="0" bIns="0" rtlCol="0" anchor="ctr"/>
          <a:lstStyle/>
          <a:p>
            <a:pPr indent="0" marL="0">
              <a:buNone/>
            </a:pPr>
            <a:r>
              <a:rPr lang="en-US" sz="700" b="1" dirty="0">
                <a:solidFill>
                  <a:srgbClr val="00D4AA"/>
                </a:solidFill>
                <a:latin typeface="Consolas" pitchFamily="34" charset="0"/>
                <a:ea typeface="Consolas" pitchFamily="34" charset="-122"/>
                <a:cs typeface="Consolas" pitchFamily="34" charset="-120"/>
              </a:rPr>
              <a:t>Evidence: </a:t>
            </a:r>
            <a:endParaRPr lang="en-US" sz="700" dirty="0"/>
          </a:p>
        </p:txBody>
      </p:sp>
      <p:sp>
        <p:nvSpPr>
          <p:cNvPr id="50" name="Text 48"/>
          <p:cNvSpPr/>
          <p:nvPr/>
        </p:nvSpPr>
        <p:spPr>
          <a:xfrm>
            <a:off x="5577840" y="4443984"/>
            <a:ext cx="3200400" cy="457200"/>
          </a:xfrm>
          <a:prstGeom prst="rect">
            <a:avLst/>
          </a:prstGeom>
          <a:noFill/>
          <a:ln/>
        </p:spPr>
        <p:txBody>
          <a:bodyPr wrap="square" lIns="0" tIns="0" rIns="0" bIns="0" rtlCol="0" anchor="ctr"/>
          <a:lstStyle/>
          <a:p>
            <a:pPr indent="0" marL="0">
              <a:buNone/>
            </a:pPr>
            <a:r>
              <a:rPr lang="en-US" sz="750" dirty="0">
                <a:solidFill>
                  <a:srgbClr val="8B949E"/>
                </a:solidFill>
                <a:latin typeface="Calibri" pitchFamily="34" charset="0"/>
                <a:ea typeface="Calibri" pitchFamily="34" charset="-122"/>
                <a:cs typeface="Calibri" pitchFamily="34" charset="-120"/>
              </a:rPr>
              <a:t>docker inspect output shows ExitCode, Start/End times, curl output in logs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AA"/>
          </a:solidFill>
          <a:ln/>
        </p:spPr>
      </p:sp>
      <p:sp>
        <p:nvSpPr>
          <p:cNvPr id="3" name="Shape 1"/>
          <p:cNvSpPr/>
          <p:nvPr/>
        </p:nvSpPr>
        <p:spPr>
          <a:xfrm>
            <a:off x="0" y="0"/>
            <a:ext cx="54864" cy="5143500"/>
          </a:xfrm>
          <a:prstGeom prst="rect">
            <a:avLst/>
          </a:prstGeom>
          <a:solidFill>
            <a:srgbClr val="00D4AA"/>
          </a:solidFill>
          <a:ln/>
        </p:spPr>
      </p:sp>
      <p:sp>
        <p:nvSpPr>
          <p:cNvPr id="4" name="Text 2"/>
          <p:cNvSpPr/>
          <p:nvPr/>
        </p:nvSpPr>
        <p:spPr>
          <a:xfrm>
            <a:off x="274320" y="182880"/>
            <a:ext cx="859536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Recommendations &amp; Remediation</a:t>
            </a:r>
            <a:endParaRPr lang="en-US" sz="2400" dirty="0"/>
          </a:p>
        </p:txBody>
      </p:sp>
      <p:sp>
        <p:nvSpPr>
          <p:cNvPr id="5" name="Shape 3"/>
          <p:cNvSpPr/>
          <p:nvPr/>
        </p:nvSpPr>
        <p:spPr>
          <a:xfrm>
            <a:off x="274320" y="713232"/>
            <a:ext cx="8412480" cy="0"/>
          </a:xfrm>
          <a:prstGeom prst="line">
            <a:avLst/>
          </a:prstGeom>
          <a:noFill/>
          <a:ln w="10160">
            <a:solidFill>
              <a:srgbClr val="30363D"/>
            </a:solidFill>
            <a:prstDash val="solid"/>
          </a:ln>
        </p:spPr>
      </p:sp>
      <p:sp>
        <p:nvSpPr>
          <p:cNvPr id="6" name="Shape 4"/>
          <p:cNvSpPr/>
          <p:nvPr/>
        </p:nvSpPr>
        <p:spPr>
          <a:xfrm>
            <a:off x="274320" y="822960"/>
            <a:ext cx="8595360" cy="228600"/>
          </a:xfrm>
          <a:prstGeom prst="rect">
            <a:avLst/>
          </a:prstGeom>
          <a:solidFill>
            <a:srgbClr val="FF4444"/>
          </a:solidFill>
          <a:ln/>
        </p:spPr>
      </p:sp>
      <p:sp>
        <p:nvSpPr>
          <p:cNvPr id="7" name="Text 5"/>
          <p:cNvSpPr/>
          <p:nvPr/>
        </p:nvSpPr>
        <p:spPr>
          <a:xfrm>
            <a:off x="320040" y="822960"/>
            <a:ext cx="8503920" cy="228600"/>
          </a:xfrm>
          <a:prstGeom prst="rect">
            <a:avLst/>
          </a:prstGeom>
          <a:noFill/>
          <a:ln/>
        </p:spPr>
        <p:txBody>
          <a:bodyPr wrap="square" lIns="0" tIns="0" rIns="0" bIns="0" rtlCol="0" anchor="ctr"/>
          <a:lstStyle/>
          <a:p>
            <a:pPr indent="0" marL="0">
              <a:buNone/>
            </a:pPr>
            <a:r>
              <a:rPr lang="en-US" sz="850" b="1" spc="200" kern="0" dirty="0">
                <a:solidFill>
                  <a:srgbClr val="0D1117"/>
                </a:solidFill>
                <a:latin typeface="Consolas" pitchFamily="34" charset="0"/>
                <a:ea typeface="Consolas" pitchFamily="34" charset="-122"/>
                <a:cs typeface="Consolas" pitchFamily="34" charset="-120"/>
              </a:rPr>
              <a:t>IMMEDIATE</a:t>
            </a:r>
            <a:endParaRPr lang="en-US" sz="850" dirty="0"/>
          </a:p>
        </p:txBody>
      </p:sp>
      <p:sp>
        <p:nvSpPr>
          <p:cNvPr id="8" name="Text 6"/>
          <p:cNvSpPr/>
          <p:nvPr/>
        </p:nvSpPr>
        <p:spPr>
          <a:xfrm>
            <a:off x="274320" y="1051560"/>
            <a:ext cx="8595360" cy="256032"/>
          </a:xfrm>
          <a:prstGeom prst="rect">
            <a:avLst/>
          </a:prstGeom>
          <a:noFill/>
          <a:ln/>
        </p:spPr>
        <p:txBody>
          <a:bodyPr wrap="square" lIns="0" tIns="0" rIns="0" bIns="0" rtlCol="0" anchor="ctr"/>
          <a:lstStyle/>
          <a:p>
            <a:pPr indent="0" marL="0">
              <a:buNone/>
            </a:pPr>
            <a:r>
              <a:rPr lang="en-US" sz="1000" b="1" dirty="0">
                <a:solidFill>
                  <a:srgbClr val="FF4444"/>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Deploy TLS/SSL certificate and force HTTPS (redirect all HTTP → HTTPS)</a:t>
            </a:r>
            <a:endParaRPr lang="en-US" sz="1000" dirty="0"/>
          </a:p>
        </p:txBody>
      </p:sp>
      <p:sp>
        <p:nvSpPr>
          <p:cNvPr id="9" name="Text 7"/>
          <p:cNvSpPr/>
          <p:nvPr/>
        </p:nvSpPr>
        <p:spPr>
          <a:xfrm>
            <a:off x="274320" y="1307592"/>
            <a:ext cx="8595360" cy="256032"/>
          </a:xfrm>
          <a:prstGeom prst="rect">
            <a:avLst/>
          </a:prstGeom>
          <a:noFill/>
          <a:ln/>
        </p:spPr>
        <p:txBody>
          <a:bodyPr wrap="square" lIns="0" tIns="0" rIns="0" bIns="0" rtlCol="0" anchor="ctr"/>
          <a:lstStyle/>
          <a:p>
            <a:pPr indent="0" marL="0">
              <a:buNone/>
            </a:pPr>
            <a:r>
              <a:rPr lang="en-US" sz="1000" b="1" dirty="0">
                <a:solidFill>
                  <a:srgbClr val="FF4444"/>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Place application behind a reverse proxy (nginx/Traefik) with WAF rules enabled</a:t>
            </a:r>
            <a:endParaRPr lang="en-US" sz="1000" dirty="0"/>
          </a:p>
        </p:txBody>
      </p:sp>
      <p:sp>
        <p:nvSpPr>
          <p:cNvPr id="10" name="Shape 8"/>
          <p:cNvSpPr/>
          <p:nvPr/>
        </p:nvSpPr>
        <p:spPr>
          <a:xfrm>
            <a:off x="274320" y="1636776"/>
            <a:ext cx="8595360" cy="228600"/>
          </a:xfrm>
          <a:prstGeom prst="rect">
            <a:avLst/>
          </a:prstGeom>
          <a:solidFill>
            <a:srgbClr val="FF8C00"/>
          </a:solidFill>
          <a:ln/>
        </p:spPr>
      </p:sp>
      <p:sp>
        <p:nvSpPr>
          <p:cNvPr id="11" name="Text 9"/>
          <p:cNvSpPr/>
          <p:nvPr/>
        </p:nvSpPr>
        <p:spPr>
          <a:xfrm>
            <a:off x="320040" y="1636776"/>
            <a:ext cx="8503920" cy="228600"/>
          </a:xfrm>
          <a:prstGeom prst="rect">
            <a:avLst/>
          </a:prstGeom>
          <a:noFill/>
          <a:ln/>
        </p:spPr>
        <p:txBody>
          <a:bodyPr wrap="square" lIns="0" tIns="0" rIns="0" bIns="0" rtlCol="0" anchor="ctr"/>
          <a:lstStyle/>
          <a:p>
            <a:pPr indent="0" marL="0">
              <a:buNone/>
            </a:pPr>
            <a:r>
              <a:rPr lang="en-US" sz="850" b="1" spc="200" kern="0" dirty="0">
                <a:solidFill>
                  <a:srgbClr val="0D1117"/>
                </a:solidFill>
                <a:latin typeface="Consolas" pitchFamily="34" charset="0"/>
                <a:ea typeface="Consolas" pitchFamily="34" charset="-122"/>
                <a:cs typeface="Consolas" pitchFamily="34" charset="-120"/>
              </a:rPr>
              <a:t>SHORT-TERM (1–2 WEEKS)</a:t>
            </a:r>
            <a:endParaRPr lang="en-US" sz="850" dirty="0"/>
          </a:p>
        </p:txBody>
      </p:sp>
      <p:sp>
        <p:nvSpPr>
          <p:cNvPr id="12" name="Text 10"/>
          <p:cNvSpPr/>
          <p:nvPr/>
        </p:nvSpPr>
        <p:spPr>
          <a:xfrm>
            <a:off x="274320" y="1865376"/>
            <a:ext cx="8595360" cy="256032"/>
          </a:xfrm>
          <a:prstGeom prst="rect">
            <a:avLst/>
          </a:prstGeom>
          <a:noFill/>
          <a:ln/>
        </p:spPr>
        <p:txBody>
          <a:bodyPr wrap="square" lIns="0" tIns="0" rIns="0" bIns="0" rtlCol="0" anchor="ctr"/>
          <a:lstStyle/>
          <a:p>
            <a:pPr indent="0" marL="0">
              <a:buNone/>
            </a:pPr>
            <a:r>
              <a:rPr lang="en-US" sz="1000" b="1" dirty="0">
                <a:solidFill>
                  <a:srgbClr val="FF8C00"/>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Investigate port 8080 — disable or firewall-restrict the hanging service</a:t>
            </a:r>
            <a:endParaRPr lang="en-US" sz="1000" dirty="0"/>
          </a:p>
        </p:txBody>
      </p:sp>
      <p:sp>
        <p:nvSpPr>
          <p:cNvPr id="13" name="Text 11"/>
          <p:cNvSpPr/>
          <p:nvPr/>
        </p:nvSpPr>
        <p:spPr>
          <a:xfrm>
            <a:off x="274320" y="2121408"/>
            <a:ext cx="8595360" cy="256032"/>
          </a:xfrm>
          <a:prstGeom prst="rect">
            <a:avLst/>
          </a:prstGeom>
          <a:noFill/>
          <a:ln/>
        </p:spPr>
        <p:txBody>
          <a:bodyPr wrap="square" lIns="0" tIns="0" rIns="0" bIns="0" rtlCol="0" anchor="ctr"/>
          <a:lstStyle/>
          <a:p>
            <a:pPr indent="0" marL="0">
              <a:buNone/>
            </a:pPr>
            <a:r>
              <a:rPr lang="en-US" sz="1000" b="1" dirty="0">
                <a:solidFill>
                  <a:srgbClr val="FF8C00"/>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Implement Docker network segmentation (custom bridge network, not host bridge)</a:t>
            </a:r>
            <a:endParaRPr lang="en-US" sz="1000" dirty="0"/>
          </a:p>
        </p:txBody>
      </p:sp>
      <p:sp>
        <p:nvSpPr>
          <p:cNvPr id="14" name="Text 12"/>
          <p:cNvSpPr/>
          <p:nvPr/>
        </p:nvSpPr>
        <p:spPr>
          <a:xfrm>
            <a:off x="274320" y="2377440"/>
            <a:ext cx="8595360" cy="256032"/>
          </a:xfrm>
          <a:prstGeom prst="rect">
            <a:avLst/>
          </a:prstGeom>
          <a:noFill/>
          <a:ln/>
        </p:spPr>
        <p:txBody>
          <a:bodyPr wrap="square" lIns="0" tIns="0" rIns="0" bIns="0" rtlCol="0" anchor="ctr"/>
          <a:lstStyle/>
          <a:p>
            <a:pPr indent="0" marL="0">
              <a:buNone/>
            </a:pPr>
            <a:r>
              <a:rPr lang="en-US" sz="1000" b="1" dirty="0">
                <a:solidFill>
                  <a:srgbClr val="FF8C00"/>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Configure Windows Firewall to block VM→host direct access; use NAT or isolated subnet</a:t>
            </a:r>
            <a:endParaRPr lang="en-US" sz="1000" dirty="0"/>
          </a:p>
        </p:txBody>
      </p:sp>
      <p:sp>
        <p:nvSpPr>
          <p:cNvPr id="15" name="Shape 13"/>
          <p:cNvSpPr/>
          <p:nvPr/>
        </p:nvSpPr>
        <p:spPr>
          <a:xfrm>
            <a:off x="274320" y="2706624"/>
            <a:ext cx="8595360" cy="228600"/>
          </a:xfrm>
          <a:prstGeom prst="rect">
            <a:avLst/>
          </a:prstGeom>
          <a:solidFill>
            <a:srgbClr val="FFD700"/>
          </a:solidFill>
          <a:ln/>
        </p:spPr>
      </p:sp>
      <p:sp>
        <p:nvSpPr>
          <p:cNvPr id="16" name="Text 14"/>
          <p:cNvSpPr/>
          <p:nvPr/>
        </p:nvSpPr>
        <p:spPr>
          <a:xfrm>
            <a:off x="320040" y="2706624"/>
            <a:ext cx="8503920" cy="228600"/>
          </a:xfrm>
          <a:prstGeom prst="rect">
            <a:avLst/>
          </a:prstGeom>
          <a:noFill/>
          <a:ln/>
        </p:spPr>
        <p:txBody>
          <a:bodyPr wrap="square" lIns="0" tIns="0" rIns="0" bIns="0" rtlCol="0" anchor="ctr"/>
          <a:lstStyle/>
          <a:p>
            <a:pPr indent="0" marL="0">
              <a:buNone/>
            </a:pPr>
            <a:r>
              <a:rPr lang="en-US" sz="850" b="1" spc="200" kern="0" dirty="0">
                <a:solidFill>
                  <a:srgbClr val="0D1117"/>
                </a:solidFill>
                <a:latin typeface="Consolas" pitchFamily="34" charset="0"/>
                <a:ea typeface="Consolas" pitchFamily="34" charset="-122"/>
                <a:cs typeface="Consolas" pitchFamily="34" charset="-120"/>
              </a:rPr>
              <a:t>MEDIUM-TERM (1 MONTH)</a:t>
            </a:r>
            <a:endParaRPr lang="en-US" sz="850" dirty="0"/>
          </a:p>
        </p:txBody>
      </p:sp>
      <p:sp>
        <p:nvSpPr>
          <p:cNvPr id="17" name="Text 15"/>
          <p:cNvSpPr/>
          <p:nvPr/>
        </p:nvSpPr>
        <p:spPr>
          <a:xfrm>
            <a:off x="274320" y="2935224"/>
            <a:ext cx="8595360" cy="256032"/>
          </a:xfrm>
          <a:prstGeom prst="rect">
            <a:avLst/>
          </a:prstGeom>
          <a:noFill/>
          <a:ln/>
        </p:spPr>
        <p:txBody>
          <a:bodyPr wrap="square" lIns="0" tIns="0" rIns="0" bIns="0" rtlCol="0" anchor="ctr"/>
          <a:lstStyle/>
          <a:p>
            <a:pPr indent="0" marL="0">
              <a:buNone/>
            </a:pPr>
            <a:r>
              <a:rPr lang="en-US" sz="1000" b="1" dirty="0">
                <a:solidFill>
                  <a:srgbClr val="FFD700"/>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Remove verbose healthcheck logs or redirect them to an internal monitoring service only</a:t>
            </a:r>
            <a:endParaRPr lang="en-US" sz="1000" dirty="0"/>
          </a:p>
        </p:txBody>
      </p:sp>
      <p:sp>
        <p:nvSpPr>
          <p:cNvPr id="18" name="Text 16"/>
          <p:cNvSpPr/>
          <p:nvPr/>
        </p:nvSpPr>
        <p:spPr>
          <a:xfrm>
            <a:off x="274320" y="3191256"/>
            <a:ext cx="8595360" cy="256032"/>
          </a:xfrm>
          <a:prstGeom prst="rect">
            <a:avLst/>
          </a:prstGeom>
          <a:noFill/>
          <a:ln/>
        </p:spPr>
        <p:txBody>
          <a:bodyPr wrap="square" lIns="0" tIns="0" rIns="0" bIns="0" rtlCol="0" anchor="ctr"/>
          <a:lstStyle/>
          <a:p>
            <a:pPr indent="0" marL="0">
              <a:buNone/>
            </a:pPr>
            <a:r>
              <a:rPr lang="en-US" sz="1000" b="1" dirty="0">
                <a:solidFill>
                  <a:srgbClr val="FFD700"/>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Implement rate limiting and brute-force protection on login endpoints</a:t>
            </a:r>
            <a:endParaRPr lang="en-US" sz="1000" dirty="0"/>
          </a:p>
        </p:txBody>
      </p:sp>
      <p:sp>
        <p:nvSpPr>
          <p:cNvPr id="19" name="Text 17"/>
          <p:cNvSpPr/>
          <p:nvPr/>
        </p:nvSpPr>
        <p:spPr>
          <a:xfrm>
            <a:off x="274320" y="3447288"/>
            <a:ext cx="8595360" cy="256032"/>
          </a:xfrm>
          <a:prstGeom prst="rect">
            <a:avLst/>
          </a:prstGeom>
          <a:noFill/>
          <a:ln/>
        </p:spPr>
        <p:txBody>
          <a:bodyPr wrap="square" lIns="0" tIns="0" rIns="0" bIns="0" rtlCol="0" anchor="ctr"/>
          <a:lstStyle/>
          <a:p>
            <a:pPr indent="0" marL="0">
              <a:buNone/>
            </a:pPr>
            <a:r>
              <a:rPr lang="en-US" sz="1000" b="1" dirty="0">
                <a:solidFill>
                  <a:srgbClr val="FFD700"/>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Set up automated vulnerability scanning in CI/CD pipeline</a:t>
            </a:r>
            <a:endParaRPr lang="en-US" sz="1000" dirty="0"/>
          </a:p>
        </p:txBody>
      </p:sp>
      <p:sp>
        <p:nvSpPr>
          <p:cNvPr id="20" name="Text 18"/>
          <p:cNvSpPr/>
          <p:nvPr/>
        </p:nvSpPr>
        <p:spPr>
          <a:xfrm>
            <a:off x="274320" y="3703320"/>
            <a:ext cx="8595360" cy="256032"/>
          </a:xfrm>
          <a:prstGeom prst="rect">
            <a:avLst/>
          </a:prstGeom>
          <a:noFill/>
          <a:ln/>
        </p:spPr>
        <p:txBody>
          <a:bodyPr wrap="square" lIns="0" tIns="0" rIns="0" bIns="0" rtlCol="0" anchor="ctr"/>
          <a:lstStyle/>
          <a:p>
            <a:pPr indent="0" marL="0">
              <a:buNone/>
            </a:pPr>
            <a:r>
              <a:rPr lang="en-US" sz="1000" b="1" dirty="0">
                <a:solidFill>
                  <a:srgbClr val="FFD700"/>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Enable Content Security Policy (CSP) and other security headers</a:t>
            </a:r>
            <a:endParaRPr lang="en-US" sz="1000" dirty="0"/>
          </a:p>
        </p:txBody>
      </p:sp>
      <p:sp>
        <p:nvSpPr>
          <p:cNvPr id="21" name="Shape 19"/>
          <p:cNvSpPr/>
          <p:nvPr/>
        </p:nvSpPr>
        <p:spPr>
          <a:xfrm>
            <a:off x="274320" y="4032504"/>
            <a:ext cx="8595360" cy="228600"/>
          </a:xfrm>
          <a:prstGeom prst="rect">
            <a:avLst/>
          </a:prstGeom>
          <a:solidFill>
            <a:srgbClr val="00D4AA"/>
          </a:solidFill>
          <a:ln/>
        </p:spPr>
      </p:sp>
      <p:sp>
        <p:nvSpPr>
          <p:cNvPr id="22" name="Text 20"/>
          <p:cNvSpPr/>
          <p:nvPr/>
        </p:nvSpPr>
        <p:spPr>
          <a:xfrm>
            <a:off x="320040" y="4032504"/>
            <a:ext cx="8503920" cy="228600"/>
          </a:xfrm>
          <a:prstGeom prst="rect">
            <a:avLst/>
          </a:prstGeom>
          <a:noFill/>
          <a:ln/>
        </p:spPr>
        <p:txBody>
          <a:bodyPr wrap="square" lIns="0" tIns="0" rIns="0" bIns="0" rtlCol="0" anchor="ctr"/>
          <a:lstStyle/>
          <a:p>
            <a:pPr indent="0" marL="0">
              <a:buNone/>
            </a:pPr>
            <a:r>
              <a:rPr lang="en-US" sz="850" b="1" spc="200" kern="0" dirty="0">
                <a:solidFill>
                  <a:srgbClr val="0D1117"/>
                </a:solidFill>
                <a:latin typeface="Consolas" pitchFamily="34" charset="0"/>
                <a:ea typeface="Consolas" pitchFamily="34" charset="-122"/>
                <a:cs typeface="Consolas" pitchFamily="34" charset="-120"/>
              </a:rPr>
              <a:t>ONGOING</a:t>
            </a:r>
            <a:endParaRPr lang="en-US" sz="850" dirty="0"/>
          </a:p>
        </p:txBody>
      </p:sp>
      <p:sp>
        <p:nvSpPr>
          <p:cNvPr id="23" name="Text 21"/>
          <p:cNvSpPr/>
          <p:nvPr/>
        </p:nvSpPr>
        <p:spPr>
          <a:xfrm>
            <a:off x="274320" y="4261104"/>
            <a:ext cx="8595360" cy="256032"/>
          </a:xfrm>
          <a:prstGeom prst="rect">
            <a:avLst/>
          </a:prstGeom>
          <a:noFill/>
          <a:ln/>
        </p:spPr>
        <p:txBody>
          <a:bodyPr wrap="square" lIns="0" tIns="0" rIns="0" bIns="0" rtlCol="0" anchor="ctr"/>
          <a:lstStyle/>
          <a:p>
            <a:pPr indent="0" marL="0">
              <a:buNone/>
            </a:pPr>
            <a:r>
              <a:rPr lang="en-US" sz="1000" b="1" dirty="0">
                <a:solidFill>
                  <a:srgbClr val="00D4AA"/>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Conduct quarterly penetration tests on all externally-facing services</a:t>
            </a:r>
            <a:endParaRPr lang="en-US" sz="1000" dirty="0"/>
          </a:p>
        </p:txBody>
      </p:sp>
      <p:sp>
        <p:nvSpPr>
          <p:cNvPr id="24" name="Text 22"/>
          <p:cNvSpPr/>
          <p:nvPr/>
        </p:nvSpPr>
        <p:spPr>
          <a:xfrm>
            <a:off x="274320" y="4517136"/>
            <a:ext cx="8595360" cy="256032"/>
          </a:xfrm>
          <a:prstGeom prst="rect">
            <a:avLst/>
          </a:prstGeom>
          <a:noFill/>
          <a:ln/>
        </p:spPr>
        <p:txBody>
          <a:bodyPr wrap="square" lIns="0" tIns="0" rIns="0" bIns="0" rtlCol="0" anchor="ctr"/>
          <a:lstStyle/>
          <a:p>
            <a:pPr indent="0" marL="0">
              <a:buNone/>
            </a:pPr>
            <a:r>
              <a:rPr lang="en-US" sz="1000" b="1" dirty="0">
                <a:solidFill>
                  <a:srgbClr val="00D4AA"/>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Maintain Docker images with latest security patches</a:t>
            </a:r>
            <a:endParaRPr lang="en-US" sz="1000" dirty="0"/>
          </a:p>
        </p:txBody>
      </p:sp>
      <p:sp>
        <p:nvSpPr>
          <p:cNvPr id="25" name="Text 23"/>
          <p:cNvSpPr/>
          <p:nvPr/>
        </p:nvSpPr>
        <p:spPr>
          <a:xfrm>
            <a:off x="274320" y="4773168"/>
            <a:ext cx="8595360" cy="256032"/>
          </a:xfrm>
          <a:prstGeom prst="rect">
            <a:avLst/>
          </a:prstGeom>
          <a:noFill/>
          <a:ln/>
        </p:spPr>
        <p:txBody>
          <a:bodyPr wrap="square" lIns="0" tIns="0" rIns="0" bIns="0" rtlCol="0" anchor="ctr"/>
          <a:lstStyle/>
          <a:p>
            <a:pPr indent="0" marL="0">
              <a:buNone/>
            </a:pPr>
            <a:r>
              <a:rPr lang="en-US" sz="1000" b="1" dirty="0">
                <a:solidFill>
                  <a:srgbClr val="00D4AA"/>
                </a:solidFill>
                <a:latin typeface="Calibri" pitchFamily="34" charset="0"/>
                <a:ea typeface="Calibri" pitchFamily="34" charset="-122"/>
                <a:cs typeface="Calibri" pitchFamily="34" charset="-120"/>
              </a:rPr>
              <a:t>  ✓  </a:t>
            </a:r>
            <a:pPr indent="0" marL="0">
              <a:buNone/>
            </a:pPr>
            <a:r>
              <a:rPr lang="en-US" sz="1000" dirty="0">
                <a:solidFill>
                  <a:srgbClr val="C9D1D9"/>
                </a:solidFill>
                <a:latin typeface="Calibri" pitchFamily="34" charset="0"/>
                <a:ea typeface="Calibri" pitchFamily="34" charset="-122"/>
                <a:cs typeface="Calibri" pitchFamily="34" charset="-120"/>
              </a:rPr>
              <a:t>Implement centralized security logging and alerting (SIEM)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AA"/>
          </a:solidFill>
          <a:ln/>
        </p:spPr>
      </p:sp>
      <p:sp>
        <p:nvSpPr>
          <p:cNvPr id="3" name="Shape 1"/>
          <p:cNvSpPr/>
          <p:nvPr/>
        </p:nvSpPr>
        <p:spPr>
          <a:xfrm>
            <a:off x="0" y="5070348"/>
            <a:ext cx="9144000" cy="73152"/>
          </a:xfrm>
          <a:prstGeom prst="rect">
            <a:avLst/>
          </a:prstGeom>
          <a:solidFill>
            <a:srgbClr val="00D4AA"/>
          </a:solidFill>
          <a:ln/>
        </p:spPr>
      </p:sp>
      <p:sp>
        <p:nvSpPr>
          <p:cNvPr id="4" name="Text 2"/>
          <p:cNvSpPr/>
          <p:nvPr/>
        </p:nvSpPr>
        <p:spPr>
          <a:xfrm>
            <a:off x="914400" y="457200"/>
            <a:ext cx="73152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5" name="Shape 3"/>
          <p:cNvSpPr/>
          <p:nvPr/>
        </p:nvSpPr>
        <p:spPr>
          <a:xfrm>
            <a:off x="2743200" y="1051560"/>
            <a:ext cx="3657600" cy="0"/>
          </a:xfrm>
          <a:prstGeom prst="line">
            <a:avLst/>
          </a:prstGeom>
          <a:noFill/>
          <a:ln w="19050">
            <a:solidFill>
              <a:srgbClr val="00D4AA"/>
            </a:solidFill>
            <a:prstDash val="solid"/>
          </a:ln>
        </p:spPr>
      </p:sp>
      <p:sp>
        <p:nvSpPr>
          <p:cNvPr id="6" name="Text 4"/>
          <p:cNvSpPr/>
          <p:nvPr/>
        </p:nvSpPr>
        <p:spPr>
          <a:xfrm>
            <a:off x="914400" y="1234440"/>
            <a:ext cx="7315200" cy="1463040"/>
          </a:xfrm>
          <a:prstGeom prst="rect">
            <a:avLst/>
          </a:prstGeom>
          <a:noFill/>
          <a:ln/>
        </p:spPr>
        <p:txBody>
          <a:bodyPr wrap="square" lIns="0" tIns="0" rIns="0" bIns="0" rtlCol="0" anchor="ctr"/>
          <a:lstStyle/>
          <a:p>
            <a:pPr algn="ctr" indent="0" marL="0">
              <a:buNone/>
            </a:pPr>
            <a:r>
              <a:rPr lang="en-US" sz="1200" dirty="0">
                <a:solidFill>
                  <a:srgbClr val="C9D1D9"/>
                </a:solidFill>
                <a:latin typeface="Calibri" pitchFamily="34" charset="0"/>
                <a:ea typeface="Calibri" pitchFamily="34" charset="-122"/>
                <a:cs typeface="Calibri" pitchFamily="34" charset="-120"/>
              </a:rPr>
              <a:t>The Bookify Hotel application presents significant security risks in its current deployment configuration. The most critical concerns are the absence of transport-layer encryption and the lack of any defensive perimeter between the internet-facing application and internal systems. </a:t>
            </a:r>
            <a:endParaRPr lang="en-US" sz="1200" dirty="0"/>
          </a:p>
          <a:p>
            <a:pPr algn="ctr" indent="0" marL="0">
              <a:buNone/>
            </a:pPr>
            <a:endParaRPr lang="en-US" sz="1200" dirty="0"/>
          </a:p>
          <a:p>
            <a:pPr algn="ctr" indent="0" marL="0">
              <a:buNone/>
            </a:pPr>
            <a:r>
              <a:rPr lang="en-US" sz="1200" dirty="0">
                <a:solidFill>
                  <a:srgbClr val="C9D1D9"/>
                </a:solidFill>
                <a:latin typeface="Calibri" pitchFamily="34" charset="0"/>
                <a:ea typeface="Calibri" pitchFamily="34" charset="-122"/>
                <a:cs typeface="Calibri" pitchFamily="34" charset="-120"/>
              </a:rPr>
              <a:t>Immediate remediation of the critical and high-severity findings is strongly recommended before the application is used in a production environment or exposed to external users.</a:t>
            </a:r>
            <a:endParaRPr lang="en-US" sz="1200" dirty="0"/>
          </a:p>
        </p:txBody>
      </p:sp>
      <p:sp>
        <p:nvSpPr>
          <p:cNvPr id="7" name="Shape 5"/>
          <p:cNvSpPr/>
          <p:nvPr/>
        </p:nvSpPr>
        <p:spPr>
          <a:xfrm>
            <a:off x="731520" y="2834640"/>
            <a:ext cx="1645920" cy="1188720"/>
          </a:xfrm>
          <a:prstGeom prst="rect">
            <a:avLst/>
          </a:prstGeom>
          <a:solidFill>
            <a:srgbClr val="1C2333"/>
          </a:solidFill>
          <a:ln w="19050">
            <a:solidFill>
              <a:srgbClr val="FF8C00"/>
            </a:solidFill>
            <a:prstDash val="solid"/>
          </a:ln>
        </p:spPr>
      </p:sp>
      <p:sp>
        <p:nvSpPr>
          <p:cNvPr id="8" name="Shape 6"/>
          <p:cNvSpPr/>
          <p:nvPr/>
        </p:nvSpPr>
        <p:spPr>
          <a:xfrm>
            <a:off x="731520" y="2834640"/>
            <a:ext cx="1645920" cy="64008"/>
          </a:xfrm>
          <a:prstGeom prst="rect">
            <a:avLst/>
          </a:prstGeom>
          <a:solidFill>
            <a:srgbClr val="FF8C00"/>
          </a:solidFill>
          <a:ln/>
        </p:spPr>
      </p:sp>
      <p:sp>
        <p:nvSpPr>
          <p:cNvPr id="9" name="Text 7"/>
          <p:cNvSpPr/>
          <p:nvPr/>
        </p:nvSpPr>
        <p:spPr>
          <a:xfrm>
            <a:off x="731520" y="3017520"/>
            <a:ext cx="1645920" cy="502920"/>
          </a:xfrm>
          <a:prstGeom prst="rect">
            <a:avLst/>
          </a:prstGeom>
          <a:noFill/>
          <a:ln/>
        </p:spPr>
        <p:txBody>
          <a:bodyPr wrap="square" lIns="0" tIns="0" rIns="0" bIns="0" rtlCol="0" anchor="ctr"/>
          <a:lstStyle/>
          <a:p>
            <a:pPr algn="ctr" indent="0" marL="0">
              <a:buNone/>
            </a:pPr>
            <a:r>
              <a:rPr lang="en-US" sz="1400" b="1" dirty="0">
                <a:solidFill>
                  <a:srgbClr val="FF8C00"/>
                </a:solidFill>
                <a:latin typeface="Consolas" pitchFamily="34" charset="0"/>
                <a:ea typeface="Consolas" pitchFamily="34" charset="-122"/>
                <a:cs typeface="Consolas" pitchFamily="34" charset="-120"/>
              </a:rPr>
              <a:t>HIGH</a:t>
            </a:r>
            <a:endParaRPr lang="en-US" sz="1400" dirty="0"/>
          </a:p>
        </p:txBody>
      </p:sp>
      <p:sp>
        <p:nvSpPr>
          <p:cNvPr id="10" name="Text 8"/>
          <p:cNvSpPr/>
          <p:nvPr/>
        </p:nvSpPr>
        <p:spPr>
          <a:xfrm>
            <a:off x="731520" y="3547872"/>
            <a:ext cx="1645920" cy="365760"/>
          </a:xfrm>
          <a:prstGeom prst="rect">
            <a:avLst/>
          </a:prstGeom>
          <a:noFill/>
          <a:ln/>
        </p:spPr>
        <p:txBody>
          <a:bodyPr wrap="square" lIns="0" tIns="0" rIns="0" bIns="0"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Overall Risk</a:t>
            </a:r>
            <a:endParaRPr lang="en-US" sz="850" dirty="0"/>
          </a:p>
        </p:txBody>
      </p:sp>
      <p:sp>
        <p:nvSpPr>
          <p:cNvPr id="11" name="Shape 9"/>
          <p:cNvSpPr/>
          <p:nvPr/>
        </p:nvSpPr>
        <p:spPr>
          <a:xfrm>
            <a:off x="2697480" y="2834640"/>
            <a:ext cx="1645920" cy="1188720"/>
          </a:xfrm>
          <a:prstGeom prst="rect">
            <a:avLst/>
          </a:prstGeom>
          <a:solidFill>
            <a:srgbClr val="1C2333"/>
          </a:solidFill>
          <a:ln w="19050">
            <a:solidFill>
              <a:srgbClr val="FF4444"/>
            </a:solidFill>
            <a:prstDash val="solid"/>
          </a:ln>
        </p:spPr>
      </p:sp>
      <p:sp>
        <p:nvSpPr>
          <p:cNvPr id="12" name="Shape 10"/>
          <p:cNvSpPr/>
          <p:nvPr/>
        </p:nvSpPr>
        <p:spPr>
          <a:xfrm>
            <a:off x="2697480" y="2834640"/>
            <a:ext cx="1645920" cy="64008"/>
          </a:xfrm>
          <a:prstGeom prst="rect">
            <a:avLst/>
          </a:prstGeom>
          <a:solidFill>
            <a:srgbClr val="FF4444"/>
          </a:solidFill>
          <a:ln/>
        </p:spPr>
      </p:sp>
      <p:sp>
        <p:nvSpPr>
          <p:cNvPr id="13" name="Text 11"/>
          <p:cNvSpPr/>
          <p:nvPr/>
        </p:nvSpPr>
        <p:spPr>
          <a:xfrm>
            <a:off x="2697480" y="3017520"/>
            <a:ext cx="1645920" cy="502920"/>
          </a:xfrm>
          <a:prstGeom prst="rect">
            <a:avLst/>
          </a:prstGeom>
          <a:noFill/>
          <a:ln/>
        </p:spPr>
        <p:txBody>
          <a:bodyPr wrap="square" lIns="0" tIns="0" rIns="0" bIns="0" rtlCol="0" anchor="ctr"/>
          <a:lstStyle/>
          <a:p>
            <a:pPr algn="ctr" indent="0" marL="0">
              <a:buNone/>
            </a:pPr>
            <a:r>
              <a:rPr lang="en-US" sz="1400" b="1" dirty="0">
                <a:solidFill>
                  <a:srgbClr val="FF4444"/>
                </a:solidFill>
                <a:latin typeface="Consolas" pitchFamily="34" charset="0"/>
                <a:ea typeface="Consolas" pitchFamily="34" charset="-122"/>
                <a:cs typeface="Consolas" pitchFamily="34" charset="-120"/>
              </a:rPr>
              <a:t>CRITICAL</a:t>
            </a:r>
            <a:endParaRPr lang="en-US" sz="1400" dirty="0"/>
          </a:p>
        </p:txBody>
      </p:sp>
      <p:sp>
        <p:nvSpPr>
          <p:cNvPr id="14" name="Text 12"/>
          <p:cNvSpPr/>
          <p:nvPr/>
        </p:nvSpPr>
        <p:spPr>
          <a:xfrm>
            <a:off x="2697480" y="3547872"/>
            <a:ext cx="1645920" cy="365760"/>
          </a:xfrm>
          <a:prstGeom prst="rect">
            <a:avLst/>
          </a:prstGeom>
          <a:noFill/>
          <a:ln/>
        </p:spPr>
        <p:txBody>
          <a:bodyPr wrap="square" lIns="0" tIns="0" rIns="0" bIns="0"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Data Confidentiality</a:t>
            </a:r>
            <a:endParaRPr lang="en-US" sz="850" dirty="0"/>
          </a:p>
        </p:txBody>
      </p:sp>
      <p:sp>
        <p:nvSpPr>
          <p:cNvPr id="15" name="Shape 13"/>
          <p:cNvSpPr/>
          <p:nvPr/>
        </p:nvSpPr>
        <p:spPr>
          <a:xfrm>
            <a:off x="4663440" y="2834640"/>
            <a:ext cx="1645920" cy="1188720"/>
          </a:xfrm>
          <a:prstGeom prst="rect">
            <a:avLst/>
          </a:prstGeom>
          <a:solidFill>
            <a:srgbClr val="1C2333"/>
          </a:solidFill>
          <a:ln w="19050">
            <a:solidFill>
              <a:srgbClr val="FF8C00"/>
            </a:solidFill>
            <a:prstDash val="solid"/>
          </a:ln>
        </p:spPr>
      </p:sp>
      <p:sp>
        <p:nvSpPr>
          <p:cNvPr id="16" name="Shape 14"/>
          <p:cNvSpPr/>
          <p:nvPr/>
        </p:nvSpPr>
        <p:spPr>
          <a:xfrm>
            <a:off x="4663440" y="2834640"/>
            <a:ext cx="1645920" cy="64008"/>
          </a:xfrm>
          <a:prstGeom prst="rect">
            <a:avLst/>
          </a:prstGeom>
          <a:solidFill>
            <a:srgbClr val="FF8C00"/>
          </a:solidFill>
          <a:ln/>
        </p:spPr>
      </p:sp>
      <p:sp>
        <p:nvSpPr>
          <p:cNvPr id="17" name="Text 15"/>
          <p:cNvSpPr/>
          <p:nvPr/>
        </p:nvSpPr>
        <p:spPr>
          <a:xfrm>
            <a:off x="4663440" y="3017520"/>
            <a:ext cx="1645920" cy="502920"/>
          </a:xfrm>
          <a:prstGeom prst="rect">
            <a:avLst/>
          </a:prstGeom>
          <a:noFill/>
          <a:ln/>
        </p:spPr>
        <p:txBody>
          <a:bodyPr wrap="square" lIns="0" tIns="0" rIns="0" bIns="0" rtlCol="0" anchor="ctr"/>
          <a:lstStyle/>
          <a:p>
            <a:pPr algn="ctr" indent="0" marL="0">
              <a:buNone/>
            </a:pPr>
            <a:r>
              <a:rPr lang="en-US" sz="1400" b="1" dirty="0">
                <a:solidFill>
                  <a:srgbClr val="FF8C00"/>
                </a:solidFill>
                <a:latin typeface="Consolas" pitchFamily="34" charset="0"/>
                <a:ea typeface="Consolas" pitchFamily="34" charset="-122"/>
                <a:cs typeface="Consolas" pitchFamily="34" charset="-120"/>
              </a:rPr>
              <a:t>HIGH</a:t>
            </a:r>
            <a:endParaRPr lang="en-US" sz="1400" dirty="0"/>
          </a:p>
        </p:txBody>
      </p:sp>
      <p:sp>
        <p:nvSpPr>
          <p:cNvPr id="18" name="Text 16"/>
          <p:cNvSpPr/>
          <p:nvPr/>
        </p:nvSpPr>
        <p:spPr>
          <a:xfrm>
            <a:off x="4663440" y="3547872"/>
            <a:ext cx="1645920" cy="365760"/>
          </a:xfrm>
          <a:prstGeom prst="rect">
            <a:avLst/>
          </a:prstGeom>
          <a:noFill/>
          <a:ln/>
        </p:spPr>
        <p:txBody>
          <a:bodyPr wrap="square" lIns="0" tIns="0" rIns="0" bIns="0"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Network Exposure</a:t>
            </a:r>
            <a:endParaRPr lang="en-US" sz="850" dirty="0"/>
          </a:p>
        </p:txBody>
      </p:sp>
      <p:sp>
        <p:nvSpPr>
          <p:cNvPr id="19" name="Shape 17"/>
          <p:cNvSpPr/>
          <p:nvPr/>
        </p:nvSpPr>
        <p:spPr>
          <a:xfrm>
            <a:off x="6629400" y="2834640"/>
            <a:ext cx="1645920" cy="1188720"/>
          </a:xfrm>
          <a:prstGeom prst="rect">
            <a:avLst/>
          </a:prstGeom>
          <a:solidFill>
            <a:srgbClr val="1C2333"/>
          </a:solidFill>
          <a:ln w="19050">
            <a:solidFill>
              <a:srgbClr val="FFD700"/>
            </a:solidFill>
            <a:prstDash val="solid"/>
          </a:ln>
        </p:spPr>
      </p:sp>
      <p:sp>
        <p:nvSpPr>
          <p:cNvPr id="20" name="Shape 18"/>
          <p:cNvSpPr/>
          <p:nvPr/>
        </p:nvSpPr>
        <p:spPr>
          <a:xfrm>
            <a:off x="6629400" y="2834640"/>
            <a:ext cx="1645920" cy="64008"/>
          </a:xfrm>
          <a:prstGeom prst="rect">
            <a:avLst/>
          </a:prstGeom>
          <a:solidFill>
            <a:srgbClr val="FFD700"/>
          </a:solidFill>
          <a:ln/>
        </p:spPr>
      </p:sp>
      <p:sp>
        <p:nvSpPr>
          <p:cNvPr id="21" name="Text 19"/>
          <p:cNvSpPr/>
          <p:nvPr/>
        </p:nvSpPr>
        <p:spPr>
          <a:xfrm>
            <a:off x="6629400" y="3017520"/>
            <a:ext cx="1645920" cy="502920"/>
          </a:xfrm>
          <a:prstGeom prst="rect">
            <a:avLst/>
          </a:prstGeom>
          <a:noFill/>
          <a:ln/>
        </p:spPr>
        <p:txBody>
          <a:bodyPr wrap="square" lIns="0" tIns="0" rIns="0" bIns="0" rtlCol="0" anchor="ctr"/>
          <a:lstStyle/>
          <a:p>
            <a:pPr algn="ctr" indent="0" marL="0">
              <a:buNone/>
            </a:pPr>
            <a:r>
              <a:rPr lang="en-US" sz="1400" b="1" dirty="0">
                <a:solidFill>
                  <a:srgbClr val="FFD700"/>
                </a:solidFill>
                <a:latin typeface="Consolas" pitchFamily="34" charset="0"/>
                <a:ea typeface="Consolas" pitchFamily="34" charset="-122"/>
                <a:cs typeface="Consolas" pitchFamily="34" charset="-120"/>
              </a:rPr>
              <a:t>MEDIUM</a:t>
            </a:r>
            <a:endParaRPr lang="en-US" sz="1400" dirty="0"/>
          </a:p>
        </p:txBody>
      </p:sp>
      <p:sp>
        <p:nvSpPr>
          <p:cNvPr id="22" name="Text 20"/>
          <p:cNvSpPr/>
          <p:nvPr/>
        </p:nvSpPr>
        <p:spPr>
          <a:xfrm>
            <a:off x="6629400" y="3547872"/>
            <a:ext cx="1645920" cy="365760"/>
          </a:xfrm>
          <a:prstGeom prst="rect">
            <a:avLst/>
          </a:prstGeom>
          <a:noFill/>
          <a:ln/>
        </p:spPr>
        <p:txBody>
          <a:bodyPr wrap="square" lIns="0" tIns="0" rIns="0" bIns="0"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Authentication</a:t>
            </a:r>
            <a:endParaRPr lang="en-US" sz="850" dirty="0"/>
          </a:p>
        </p:txBody>
      </p:sp>
      <p:sp>
        <p:nvSpPr>
          <p:cNvPr id="23" name="Text 21"/>
          <p:cNvSpPr/>
          <p:nvPr/>
        </p:nvSpPr>
        <p:spPr>
          <a:xfrm>
            <a:off x="457200" y="4251960"/>
            <a:ext cx="8229600" cy="365760"/>
          </a:xfrm>
          <a:prstGeom prst="rect">
            <a:avLst/>
          </a:prstGeom>
          <a:noFill/>
          <a:ln/>
        </p:spPr>
        <p:txBody>
          <a:bodyPr wrap="square" lIns="0" tIns="0" rIns="0" bIns="0" rtlCol="0" anchor="ctr"/>
          <a:lstStyle/>
          <a:p>
            <a:pPr algn="ctr" indent="0" marL="0">
              <a:buNone/>
            </a:pPr>
            <a:r>
              <a:rPr lang="en-US" sz="850" i="1" dirty="0">
                <a:solidFill>
                  <a:srgbClr val="8B949E"/>
                </a:solidFill>
                <a:latin typeface="Calibri" pitchFamily="34" charset="0"/>
                <a:ea typeface="Calibri" pitchFamily="34" charset="-122"/>
                <a:cs typeface="Calibri" pitchFamily="34" charset="-120"/>
              </a:rPr>
              <a:t>This report was prepared for authorized use only. All testing was conducted in a controlled lab environment.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Bookify Hotel - Security Assessment Report</dc:title>
  <dc:subject>PptxGenJS Presentation</dc:subject>
  <dc:creator>Security Assessment Team</dc:creator>
  <cp:lastModifiedBy>Security Assessment Team</cp:lastModifiedBy>
  <cp:revision>1</cp:revision>
  <dcterms:created xsi:type="dcterms:W3CDTF">2026-05-15T18:35:23Z</dcterms:created>
  <dcterms:modified xsi:type="dcterms:W3CDTF">2026-05-15T18:35:23Z</dcterms:modified>
</cp:coreProperties>
</file>